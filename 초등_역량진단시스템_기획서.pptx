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106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1097280"/>
            <a:ext cx="3657600" cy="3657600"/>
          </a:xfrm>
          <a:prstGeom prst="ellipse">
            <a:avLst/>
          </a:prstGeom>
          <a:solidFill>
            <a:srgbClr val="3B1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4206240"/>
            <a:ext cx="3200400" cy="3200400"/>
          </a:xfrm>
          <a:prstGeom prst="ellipse">
            <a:avLst/>
          </a:prstGeom>
          <a:solidFill>
            <a:srgbClr val="3B1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822960"/>
            <a:ext cx="2926080" cy="384048"/>
          </a:xfrm>
          <a:prstGeom prst="roundRect">
            <a:avLst>
              <a:gd name="adj" fmla="val 40000"/>
            </a:avLst>
          </a:prstGeom>
          <a:noFill/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DDD6FE"/>
                </a:solidFill>
                <a:latin typeface="맑은 고딕"/>
                <a:ea typeface="맑은 고딕"/>
              </a:rPr>
              <a:t>RESEARCH &amp; POLICY PROPOSAL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4400" b="1">
                <a:solidFill>
                  <a:srgbClr val="FFFFFF"/>
                </a:solidFill>
                <a:latin typeface="맑은 고딕"/>
                <a:ea typeface="맑은 고딕"/>
              </a:rPr>
              <a:t>초등 3~4학년 핵심 역량 진단시스템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600" b="0">
                <a:solidFill>
                  <a:srgbClr val="DDD6FE"/>
                </a:solidFill>
                <a:latin typeface="맑은 고딕"/>
                <a:ea typeface="맑은 고딕"/>
              </a:rPr>
              <a:t>사전·사후 진단 체계 개발 기획서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3611880"/>
            <a:ext cx="731520" cy="25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79476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200"/>
              </a:spcAft>
            </a:pPr>
            <a:r>
              <a:rPr sz="1450" b="0">
                <a:solidFill>
                  <a:srgbClr val="FFFFFF"/>
                </a:solidFill>
                <a:latin typeface="맑은 고딕"/>
                <a:ea typeface="맑은 고딕"/>
              </a:rPr>
              <a:t>아동 발달심리·임상 관점에 기반한 6대 역량 통합 측정 프레임워크</a:t>
            </a:r>
          </a:p>
          <a:p>
            <a:pPr algn="l">
              <a:lnSpc>
                <a:spcPct val="160000"/>
              </a:lnSpc>
              <a:spcAft>
                <a:spcPts val="200"/>
              </a:spcAft>
            </a:pPr>
            <a:r>
              <a:rPr sz="1450" b="0">
                <a:solidFill>
                  <a:srgbClr val="FFFFFF"/>
                </a:solidFill>
                <a:latin typeface="맑은 고딕"/>
                <a:ea typeface="맑은 고딕"/>
              </a:rPr>
              <a:t>—  소통과 협업 · 회복 탄력성 · 자기 주도력 · 비판적 사고 · 사회적 감수성 · 창의적 표현력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9893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>
                <a:solidFill>
                  <a:srgbClr val="DDD6FE"/>
                </a:solidFill>
                <a:latin typeface="맑은 고딕"/>
                <a:ea typeface="맑은 고딕"/>
              </a:rPr>
              <a:t>기획·작성  |  아동임상 연구팀            제출일  |  2026. 04. 21.            버전  |  v1.0 (기획 초안)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2E1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DDD6FE"/>
                </a:solidFill>
                <a:latin typeface="맑은 고딕"/>
                <a:ea typeface="맑은 고딕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36576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5400" b="1">
                <a:solidFill>
                  <a:srgbClr val="FFFFFF"/>
                </a:solidFill>
                <a:latin typeface="맑은 고딕"/>
                <a:ea typeface="맑은 고딕"/>
              </a:rPr>
              <a:t>목차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3063240"/>
            <a:ext cx="731520" cy="25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246120"/>
            <a:ext cx="36576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200"/>
              </a:spcAft>
            </a:pPr>
            <a:r>
              <a:rPr sz="1250" b="0">
                <a:solidFill>
                  <a:srgbClr val="DDD6FE"/>
                </a:solidFill>
                <a:latin typeface="맑은 고딕"/>
                <a:ea typeface="맑은 고딕"/>
              </a:rPr>
              <a:t>본 기획서는 초등 3~4학년 아동의</a:t>
            </a:r>
          </a:p>
          <a:p>
            <a:pPr algn="l">
              <a:lnSpc>
                <a:spcPct val="160000"/>
              </a:lnSpc>
              <a:spcAft>
                <a:spcPts val="200"/>
              </a:spcAft>
            </a:pPr>
            <a:r>
              <a:rPr sz="1250" b="0">
                <a:solidFill>
                  <a:srgbClr val="DDD6FE"/>
                </a:solidFill>
                <a:latin typeface="맑은 고딕"/>
                <a:ea typeface="맑은 고딕"/>
              </a:rPr>
              <a:t>핵심 역량을 사전·사후 진단하는</a:t>
            </a:r>
          </a:p>
          <a:p>
            <a:pPr algn="l">
              <a:lnSpc>
                <a:spcPct val="160000"/>
              </a:lnSpc>
              <a:spcAft>
                <a:spcPts val="200"/>
              </a:spcAft>
            </a:pPr>
            <a:r>
              <a:rPr sz="1250" b="0">
                <a:solidFill>
                  <a:srgbClr val="DDD6FE"/>
                </a:solidFill>
                <a:latin typeface="맑은 고딕"/>
                <a:ea typeface="맑은 고딕"/>
              </a:rPr>
              <a:t>시스템의 설계 원리와 운영 체계를</a:t>
            </a:r>
          </a:p>
          <a:p>
            <a:pPr algn="l">
              <a:lnSpc>
                <a:spcPct val="160000"/>
              </a:lnSpc>
              <a:spcAft>
                <a:spcPts val="200"/>
              </a:spcAft>
            </a:pPr>
            <a:r>
              <a:rPr sz="1250" b="0">
                <a:solidFill>
                  <a:srgbClr val="DDD6FE"/>
                </a:solidFill>
                <a:latin typeface="맑은 고딕"/>
                <a:ea typeface="맑은 고딕"/>
              </a:rPr>
              <a:t>임상전문가 관점에서 제시합니다.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815340"/>
            <a:ext cx="73152" cy="77724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83480" y="777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7C3AED"/>
                </a:solidFill>
                <a:latin typeface="맑은 고딕"/>
                <a:ea typeface="맑은 고딕"/>
              </a:rPr>
              <a:t>PART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83480" y="1033272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800" b="1">
                <a:solidFill>
                  <a:srgbClr val="1E1B4B"/>
                </a:solidFill>
                <a:latin typeface="맑은 고딕"/>
                <a:ea typeface="맑은 고딕"/>
              </a:rPr>
              <a:t>사업 개요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00" b="0">
                <a:solidFill>
                  <a:srgbClr val="4B5563"/>
                </a:solidFill>
                <a:latin typeface="맑은 고딕"/>
                <a:ea typeface="맑은 고딕"/>
              </a:rPr>
              <a:t>03 개발 배경 및 필요성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00" b="0">
                <a:solidFill>
                  <a:srgbClr val="4B5563"/>
                </a:solidFill>
                <a:latin typeface="맑은 고딕"/>
                <a:ea typeface="맑은 고딕"/>
              </a:rPr>
              <a:t>04 이론적 기반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1894331"/>
            <a:ext cx="73152" cy="77724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83480" y="1856231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7C3AED"/>
                </a:solidFill>
                <a:latin typeface="맑은 고딕"/>
                <a:ea typeface="맑은 고딕"/>
              </a:rPr>
              <a:t>PART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2112263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800" b="1">
                <a:solidFill>
                  <a:srgbClr val="1E1B4B"/>
                </a:solidFill>
                <a:latin typeface="맑은 고딕"/>
                <a:ea typeface="맑은 고딕"/>
              </a:rPr>
              <a:t>역량 프레임워크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1947671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00" b="0">
                <a:solidFill>
                  <a:srgbClr val="4B5563"/>
                </a:solidFill>
                <a:latin typeface="맑은 고딕"/>
                <a:ea typeface="맑은 고딕"/>
              </a:rPr>
              <a:t>05 6대 핵심 역량 개관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00" b="0">
                <a:solidFill>
                  <a:srgbClr val="4B5563"/>
                </a:solidFill>
                <a:latin typeface="맑은 고딕"/>
                <a:ea typeface="맑은 고딕"/>
              </a:rPr>
              <a:t>06–11 역량별 조작적 정의·예시 문항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2973324"/>
            <a:ext cx="73152" cy="77724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83480" y="2935224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7C3AED"/>
                </a:solidFill>
                <a:latin typeface="맑은 고딕"/>
                <a:ea typeface="맑은 고딕"/>
              </a:rPr>
              <a:t>PART 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3191256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800" b="1">
                <a:solidFill>
                  <a:srgbClr val="1E1B4B"/>
                </a:solidFill>
                <a:latin typeface="맑은 고딕"/>
                <a:ea typeface="맑은 고딕"/>
              </a:rPr>
              <a:t>진단 체계 설계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026664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00" b="0">
                <a:solidFill>
                  <a:srgbClr val="4B5563"/>
                </a:solidFill>
                <a:latin typeface="맑은 고딕"/>
                <a:ea typeface="맑은 고딕"/>
              </a:rPr>
              <a:t>12 사전·사후 진단 구조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00" b="0">
                <a:solidFill>
                  <a:srgbClr val="4B5563"/>
                </a:solidFill>
                <a:latin typeface="맑은 고딕"/>
                <a:ea typeface="맑은 고딕"/>
              </a:rPr>
              <a:t>13 문항 구성 및 측정 원리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00" b="0">
                <a:solidFill>
                  <a:srgbClr val="4B5563"/>
                </a:solidFill>
                <a:latin typeface="맑은 고딕"/>
                <a:ea typeface="맑은 고딕"/>
              </a:rPr>
              <a:t>14 신뢰도·타당도 검증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0" y="4052315"/>
            <a:ext cx="73152" cy="77724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83480" y="4014215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7C3AED"/>
                </a:solidFill>
                <a:latin typeface="맑은 고딕"/>
                <a:ea typeface="맑은 고딕"/>
              </a:rPr>
              <a:t>PART 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4270247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800" b="1">
                <a:solidFill>
                  <a:srgbClr val="1E1B4B"/>
                </a:solidFill>
                <a:latin typeface="맑은 고딕"/>
                <a:ea typeface="맑은 고딕"/>
              </a:rPr>
              <a:t>운영 및 활용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105655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00" b="0">
                <a:solidFill>
                  <a:srgbClr val="4B5563"/>
                </a:solidFill>
                <a:latin typeface="맑은 고딕"/>
                <a:ea typeface="맑은 고딕"/>
              </a:rPr>
              <a:t>15 채점·결과 해석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00" b="0">
                <a:solidFill>
                  <a:srgbClr val="4B5563"/>
                </a:solidFill>
                <a:latin typeface="맑은 고딕"/>
                <a:ea typeface="맑은 고딕"/>
              </a:rPr>
              <a:t>16 시스템 운영 프로세스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00" b="0">
                <a:solidFill>
                  <a:srgbClr val="4B5563"/>
                </a:solidFill>
                <a:latin typeface="맑은 고딕"/>
                <a:ea typeface="맑은 고딕"/>
              </a:rPr>
              <a:t>17 연구윤리·개인정보보호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54880" y="5131307"/>
            <a:ext cx="73152" cy="77724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83480" y="5093207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7C3AED"/>
                </a:solidFill>
                <a:latin typeface="맑은 고딕"/>
                <a:ea typeface="맑은 고딕"/>
              </a:rPr>
              <a:t>PART 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83480" y="5349239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800" b="1">
                <a:solidFill>
                  <a:srgbClr val="1E1B4B"/>
                </a:solidFill>
                <a:latin typeface="맑은 고딕"/>
                <a:ea typeface="맑은 고딕"/>
              </a:rPr>
              <a:t>로드맵 및 기대효과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5184647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00" b="0">
                <a:solidFill>
                  <a:srgbClr val="4B5563"/>
                </a:solidFill>
                <a:latin typeface="맑은 고딕"/>
                <a:ea typeface="맑은 고딕"/>
              </a:rPr>
              <a:t>18 개발 로드맵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00" b="0">
                <a:solidFill>
                  <a:srgbClr val="4B5563"/>
                </a:solidFill>
                <a:latin typeface="맑은 고딕"/>
                <a:ea typeface="맑은 고딕"/>
              </a:rPr>
              <a:t>19 기대효과 및 활용방안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00" b="0">
                <a:solidFill>
                  <a:srgbClr val="4B5563"/>
                </a:solidFill>
                <a:latin typeface="맑은 고딕"/>
                <a:ea typeface="맑은 고딕"/>
              </a:rPr>
              <a:t>20 결언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1645920" cy="310896"/>
          </a:xfrm>
          <a:prstGeom prst="roundRect">
            <a:avLst>
              <a:gd name="adj" fmla="val 4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5B21B6"/>
                </a:solidFill>
                <a:latin typeface="맑은 고딕"/>
                <a:ea typeface="맑은 고딕"/>
              </a:rPr>
              <a:t>PART 01  사업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800" b="1">
                <a:solidFill>
                  <a:srgbClr val="1E1B4B"/>
                </a:solidFill>
                <a:latin typeface="맑은 고딕"/>
                <a:ea typeface="맑은 고딕"/>
              </a:rPr>
              <a:t>개발 배경 및 필요성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11155680" cy="127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6035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1">
                <a:solidFill>
                  <a:srgbClr val="2E1065"/>
                </a:solidFill>
                <a:latin typeface="맑은 고딕"/>
                <a:ea typeface="맑은 고딕"/>
              </a:rPr>
              <a:t>왜 지금, 초등 3~4학년인가?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603504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250" b="0">
                <a:solidFill>
                  <a:srgbClr val="1E1B4B"/>
                </a:solidFill>
                <a:latin typeface="맑은 고딕"/>
                <a:ea typeface="맑은 고딕"/>
              </a:rPr>
              <a:t>초등 3~4학년은 Piaget의 구체적 조작기 후반부로, 탈중심화와 조망수용, 규칙 기반 사고가 급격히 발달하는 </a:t>
            </a:r>
            <a:r>
              <a:rPr sz="1250" b="1">
                <a:solidFill>
                  <a:srgbClr val="2E1065"/>
                </a:solidFill>
                <a:latin typeface="맑은 고딕"/>
                <a:ea typeface="맑은 고딕"/>
              </a:rPr>
              <a:t>발달 전환기(developmental transition)</a:t>
            </a:r>
            <a:r>
              <a:rPr sz="1250" b="0">
                <a:solidFill>
                  <a:srgbClr val="1E1B4B"/>
                </a:solidFill>
                <a:latin typeface="맑은 고딕"/>
                <a:ea typeface="맑은 고딕"/>
              </a:rPr>
              <a:t>이다. 이 시기는 학습·정서·대인관계 문제의 징후가 비교적 뚜렷이 관찰 가능해지는 한편, 조기 개입의 효과성이 실증적으로 가장 크게 보고되는 연령대이기도 하다.</a:t>
            </a:r>
          </a:p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250" b="0">
                <a:solidFill>
                  <a:srgbClr val="1E1B4B"/>
                </a:solidFill>
                <a:latin typeface="맑은 고딕"/>
                <a:ea typeface="맑은 고딕"/>
              </a:rPr>
              <a:t>기존 국내 아동용 역량 진단은 ① 인지적 학업 역량에 편중, ② 성인 척도의 단순 축약, ③ 일회성 측정에 머물러 </a:t>
            </a:r>
            <a:r>
              <a:rPr sz="1250" b="1">
                <a:solidFill>
                  <a:srgbClr val="2E1065"/>
                </a:solidFill>
                <a:latin typeface="맑은 고딕"/>
                <a:ea typeface="맑은 고딕"/>
              </a:rPr>
              <a:t>‘변화의 측정’</a:t>
            </a:r>
            <a:r>
              <a:rPr sz="1250" b="0">
                <a:solidFill>
                  <a:srgbClr val="1E1B4B"/>
                </a:solidFill>
                <a:latin typeface="맑은 고딕"/>
                <a:ea typeface="맑은 고딕"/>
              </a:rPr>
              <a:t>이 어렵다는 한계가 누적되어 왔다. 본 시스템은 발달·임상 근거에 기반한 6대 비인지 역량을 표준화하고, 사전–사후 반복 측정으로 개입 효과와 발달 변화를 정량화할 수 있도록 설계한다.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1645920"/>
            <a:ext cx="2331720" cy="2221992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50608" y="1810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7C3AED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50608" y="2057400"/>
            <a:ext cx="19293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1E1B4B"/>
                </a:solidFill>
                <a:latin typeface="맑은 고딕"/>
                <a:ea typeface="맑은 고딕"/>
              </a:rPr>
              <a:t>정책 수요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0608" y="2468880"/>
            <a:ext cx="1929384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050" b="0">
                <a:solidFill>
                  <a:srgbClr val="4B5563"/>
                </a:solidFill>
                <a:latin typeface="맑은 고딕"/>
                <a:ea typeface="맑은 고딕"/>
              </a:rPr>
              <a:t>2022 개정 교육과정·OECD 2030 Learning Compass가 요구하는 역량 중심 평가 체계의 공백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18320" y="1645920"/>
            <a:ext cx="2331720" cy="2221992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19488" y="1810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7C3AED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19488" y="2057400"/>
            <a:ext cx="19293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1E1B4B"/>
                </a:solidFill>
                <a:latin typeface="맑은 고딕"/>
                <a:ea typeface="맑은 고딕"/>
              </a:rPr>
              <a:t>발달적 적기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19488" y="2468880"/>
            <a:ext cx="1929384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050" b="0">
                <a:solidFill>
                  <a:srgbClr val="4B5563"/>
                </a:solidFill>
                <a:latin typeface="맑은 고딕"/>
                <a:ea typeface="맑은 고딕"/>
              </a:rPr>
              <a:t>3~4학년은 학업·사회성 분기점. 조기 선별 및 개입 효과성이 가장 큰 시점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9440" y="4005072"/>
            <a:ext cx="2331720" cy="2221992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50608" y="4169664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7C3AED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50608" y="4416552"/>
            <a:ext cx="19293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1E1B4B"/>
                </a:solidFill>
                <a:latin typeface="맑은 고딕"/>
                <a:ea typeface="맑은 고딕"/>
              </a:rPr>
              <a:t>임상적 근거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50608" y="4828032"/>
            <a:ext cx="1929384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050" b="0">
                <a:solidFill>
                  <a:srgbClr val="4B5563"/>
                </a:solidFill>
                <a:latin typeface="맑은 고딕"/>
                <a:ea typeface="맑은 고딕"/>
              </a:rPr>
              <a:t>비인지 역량의 결손은 내재화·외현화 문제의 조기 지표로 기능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18320" y="4005072"/>
            <a:ext cx="2331720" cy="2221992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19488" y="4169664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7C3AED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19488" y="4416552"/>
            <a:ext cx="19293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1E1B4B"/>
                </a:solidFill>
                <a:latin typeface="맑은 고딕"/>
                <a:ea typeface="맑은 고딕"/>
              </a:rPr>
              <a:t>변화 민감성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19488" y="4828032"/>
            <a:ext cx="1929384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050" b="0">
                <a:solidFill>
                  <a:srgbClr val="4B5563"/>
                </a:solidFill>
                <a:latin typeface="맑은 고딕"/>
                <a:ea typeface="맑은 고딕"/>
              </a:rPr>
              <a:t>단발 측정 한계 극복. 사전·사후 반복 설계로 변화 크기 정량화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  <a:ea typeface="맑은 고딕"/>
              </a:rPr>
              <a:t>초등 3~4학년 핵심 역량 진단시스템 개발 기획서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  <a:ea typeface="맑은 고딕"/>
              </a:rP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1645920" cy="310896"/>
          </a:xfrm>
          <a:prstGeom prst="roundRect">
            <a:avLst>
              <a:gd name="adj" fmla="val 4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5B21B6"/>
                </a:solidFill>
                <a:latin typeface="맑은 고딕"/>
                <a:ea typeface="맑은 고딕"/>
              </a:rPr>
              <a:t>PART 01  사업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800" b="1">
                <a:solidFill>
                  <a:srgbClr val="1E1B4B"/>
                </a:solidFill>
                <a:latin typeface="맑은 고딕"/>
                <a:ea typeface="맑은 고딕"/>
              </a:rPr>
              <a:t>이론적 기반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11155680" cy="127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</a:rPr>
              <a:t>발달심리학·아동임상·교육학 세 축의 교차 지점에 본 시스템을 위치시킨다.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94560"/>
            <a:ext cx="3721608" cy="4023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194560"/>
            <a:ext cx="3721608" cy="45720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2194560"/>
            <a:ext cx="328269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발달심리학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816352"/>
            <a:ext cx="32826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5B21B6"/>
                </a:solidFill>
                <a:latin typeface="맑은 고딕"/>
                <a:ea typeface="맑은 고딕"/>
              </a:rPr>
              <a:t>Piaget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3090672"/>
            <a:ext cx="328269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050" b="0">
                <a:solidFill>
                  <a:srgbClr val="4B5563"/>
                </a:solidFill>
                <a:latin typeface="맑은 고딕"/>
                <a:ea typeface="맑은 고딕"/>
              </a:rPr>
              <a:t>구체적 조작기(7–11세): 보존·서열화·탈중심화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867912"/>
            <a:ext cx="32826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5B21B6"/>
                </a:solidFill>
                <a:latin typeface="맑은 고딕"/>
                <a:ea typeface="맑은 고딕"/>
              </a:rPr>
              <a:t>Erikson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4142232"/>
            <a:ext cx="328269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050" b="0">
                <a:solidFill>
                  <a:srgbClr val="4B5563"/>
                </a:solidFill>
                <a:latin typeface="맑은 고딕"/>
                <a:ea typeface="맑은 고딕"/>
              </a:rPr>
              <a:t>근면성 vs 열등감 (6–12세): 역량감 형성의 결정 시기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4919472"/>
            <a:ext cx="32826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5B21B6"/>
                </a:solidFill>
                <a:latin typeface="맑은 고딕"/>
                <a:ea typeface="맑은 고딕"/>
              </a:rPr>
              <a:t>Selman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5193792"/>
            <a:ext cx="328269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050" b="0">
                <a:solidFill>
                  <a:srgbClr val="4B5563"/>
                </a:solidFill>
                <a:latin typeface="맑은 고딕"/>
                <a:ea typeface="맑은 고딕"/>
              </a:rPr>
              <a:t>사회적 조망수용 Stage 2→3: 제3자 관점 이해 발달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79976" y="2194560"/>
            <a:ext cx="3721608" cy="4023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79976" y="2194560"/>
            <a:ext cx="3721608" cy="4572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9432" y="2194560"/>
            <a:ext cx="328269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아동임상·발달정신의학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9432" y="2816352"/>
            <a:ext cx="32826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0D9488"/>
                </a:solidFill>
                <a:latin typeface="맑은 고딕"/>
                <a:ea typeface="맑은 고딕"/>
              </a:rPr>
              <a:t>Grotberg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9432" y="3090672"/>
            <a:ext cx="328269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050" b="0">
                <a:solidFill>
                  <a:srgbClr val="4B5563"/>
                </a:solidFill>
                <a:latin typeface="맑은 고딕"/>
                <a:ea typeface="맑은 고딕"/>
              </a:rPr>
              <a:t>회복탄력성 3요소: I HAVE / I AM / I CAN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9432" y="3867912"/>
            <a:ext cx="32826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0D9488"/>
                </a:solidFill>
                <a:latin typeface="맑은 고딕"/>
                <a:ea typeface="맑은 고딕"/>
              </a:rPr>
              <a:t>Hoffman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9432" y="4142232"/>
            <a:ext cx="328269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050" b="0">
                <a:solidFill>
                  <a:srgbClr val="4B5563"/>
                </a:solidFill>
                <a:latin typeface="맑은 고딕"/>
                <a:ea typeface="맑은 고딕"/>
              </a:rPr>
              <a:t>공감 발달 4단계 중 3–4단계 전환기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9432" y="4919472"/>
            <a:ext cx="32826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0D9488"/>
                </a:solidFill>
                <a:latin typeface="맑은 고딕"/>
                <a:ea typeface="맑은 고딕"/>
              </a:rPr>
              <a:t>Achenbach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9432" y="5193792"/>
            <a:ext cx="328269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050" b="0">
                <a:solidFill>
                  <a:srgbClr val="4B5563"/>
                </a:solidFill>
                <a:latin typeface="맑은 고딕"/>
                <a:ea typeface="맑은 고딕"/>
              </a:rPr>
              <a:t>내재화·외현화 문제의 조기 선별 근거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11312" y="2194560"/>
            <a:ext cx="3721608" cy="4023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11312" y="2194560"/>
            <a:ext cx="3721608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30768" y="2194560"/>
            <a:ext cx="328269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교육·정책 프레임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0768" y="2816352"/>
            <a:ext cx="32826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F59E0B"/>
                </a:solidFill>
                <a:latin typeface="맑은 고딕"/>
                <a:ea typeface="맑은 고딕"/>
              </a:rPr>
              <a:t>OECD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0768" y="3090672"/>
            <a:ext cx="328269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050" b="0">
                <a:solidFill>
                  <a:srgbClr val="4B5563"/>
                </a:solidFill>
                <a:latin typeface="맑은 고딕"/>
                <a:ea typeface="맑은 고딕"/>
              </a:rPr>
              <a:t>Learning Compass 2030 — Transformative Competencies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30768" y="3867912"/>
            <a:ext cx="32826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F59E0B"/>
                </a:solidFill>
                <a:latin typeface="맑은 고딕"/>
                <a:ea typeface="맑은 고딕"/>
              </a:rPr>
              <a:t>CASEL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30768" y="4142232"/>
            <a:ext cx="328269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050" b="0">
                <a:solidFill>
                  <a:srgbClr val="4B5563"/>
                </a:solidFill>
                <a:latin typeface="맑은 고딕"/>
                <a:ea typeface="맑은 고딕"/>
              </a:rPr>
              <a:t>SEL 5 Competencies (자기인식·사회인식·관계기술 등)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30768" y="4919472"/>
            <a:ext cx="32826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F59E0B"/>
                </a:solidFill>
                <a:latin typeface="맑은 고딕"/>
                <a:ea typeface="맑은 고딕"/>
              </a:rPr>
              <a:t>KEDI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30768" y="5193792"/>
            <a:ext cx="328269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050" b="0">
                <a:solidFill>
                  <a:srgbClr val="4B5563"/>
                </a:solidFill>
                <a:latin typeface="맑은 고딕"/>
                <a:ea typeface="맑은 고딕"/>
              </a:rPr>
              <a:t>2022 개정 교육과정 6대 핵심역량과 정합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6327648"/>
            <a:ext cx="11155680" cy="0"/>
          </a:xfrm>
          <a:prstGeom prst="roundRect">
            <a:avLst>
              <a:gd name="adj" fmla="val 4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48640" y="6364224"/>
            <a:ext cx="11155680" cy="45720"/>
          </a:xfrm>
          <a:prstGeom prst="roundRect">
            <a:avLst>
              <a:gd name="adj" fmla="val 4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  <a:ea typeface="맑은 고딕"/>
              </a:rPr>
              <a:t>초등 3~4학년 핵심 역량 진단시스템 개발 기획서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  <a:ea typeface="맑은 고딕"/>
              </a:rP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1645920" cy="310896"/>
          </a:xfrm>
          <a:prstGeom prst="roundRect">
            <a:avLst>
              <a:gd name="adj" fmla="val 4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5B21B6"/>
                </a:solidFill>
                <a:latin typeface="맑은 고딕"/>
                <a:ea typeface="맑은 고딕"/>
              </a:rPr>
              <a:t>PART 02  역량 프레임워크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800" b="1">
                <a:solidFill>
                  <a:srgbClr val="1E1B4B"/>
                </a:solidFill>
                <a:latin typeface="맑은 고딕"/>
                <a:ea typeface="맑은 고딕"/>
              </a:rPr>
              <a:t>6대 핵심 역량 개관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11155680" cy="127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</a:rPr>
              <a:t>개인 내적·대인관계·인지 표현 세 차원으로 구조화한 6대 역량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94560"/>
            <a:ext cx="3721608" cy="19385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60" y="2624328"/>
            <a:ext cx="822960" cy="822960"/>
          </a:xfrm>
          <a:prstGeom prst="ellipse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24328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</a:rPr>
              <a:t>CO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2487168"/>
            <a:ext cx="914400" cy="274320"/>
          </a:xfrm>
          <a:prstGeom prst="roundRect">
            <a:avLst>
              <a:gd name="adj" fmla="val 40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248716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900" b="1">
                <a:solidFill>
                  <a:srgbClr val="7C3AED"/>
                </a:solidFill>
                <a:latin typeface="맑은 고딕"/>
                <a:ea typeface="맑은 고딕"/>
              </a:rPr>
              <a:t>대인관계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761488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700" b="1">
                <a:solidFill>
                  <a:srgbClr val="1E1B4B"/>
                </a:solidFill>
                <a:latin typeface="맑은 고딕"/>
                <a:ea typeface="맑은 고딕"/>
              </a:rPr>
              <a:t>소통과 협업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474720"/>
            <a:ext cx="30815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1100" b="0">
                <a:solidFill>
                  <a:srgbClr val="4B5563"/>
                </a:solidFill>
                <a:latin typeface="맑은 고딕"/>
                <a:ea typeface="맑은 고딕"/>
              </a:rPr>
              <a:t>동료와 함께 문제를 풀며</a:t>
            </a:r>
          </a:p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1100" b="0">
                <a:solidFill>
                  <a:srgbClr val="4B5563"/>
                </a:solidFill>
                <a:latin typeface="맑은 고딕"/>
                <a:ea typeface="맑은 고딕"/>
              </a:rPr>
              <a:t>리더십과 공감 능력을 배양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9976" y="2194560"/>
            <a:ext cx="3721608" cy="19385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654296" y="2624328"/>
            <a:ext cx="822960" cy="8229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54296" y="2624328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</a:rPr>
              <a:t>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77456" y="2487168"/>
            <a:ext cx="914400" cy="274320"/>
          </a:xfrm>
          <a:prstGeom prst="roundRect">
            <a:avLst>
              <a:gd name="adj" fmla="val 40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77456" y="248716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900" b="1">
                <a:solidFill>
                  <a:srgbClr val="7C3AED"/>
                </a:solidFill>
                <a:latin typeface="맑은 고딕"/>
                <a:ea typeface="맑은 고딕"/>
              </a:rPr>
              <a:t>개인 내적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0136" y="2761488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700" b="1">
                <a:solidFill>
                  <a:srgbClr val="1E1B4B"/>
                </a:solidFill>
                <a:latin typeface="맑은 고딕"/>
                <a:ea typeface="맑은 고딕"/>
              </a:rPr>
              <a:t>회복 탄력성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0016" y="3474720"/>
            <a:ext cx="30815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1100" b="0">
                <a:solidFill>
                  <a:srgbClr val="4B5563"/>
                </a:solidFill>
                <a:latin typeface="맑은 고딕"/>
                <a:ea typeface="맑은 고딕"/>
              </a:rPr>
              <a:t>실패를 당연한 과정으로</a:t>
            </a:r>
          </a:p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1100" b="0">
                <a:solidFill>
                  <a:srgbClr val="4B5563"/>
                </a:solidFill>
                <a:latin typeface="맑은 고딕"/>
                <a:ea typeface="맑은 고딕"/>
              </a:rPr>
              <a:t>받아들이는 단단한 마음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11312" y="2194560"/>
            <a:ext cx="3721608" cy="19385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85632" y="2624328"/>
            <a:ext cx="822960" cy="82296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85632" y="2624328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</a:rPr>
              <a:t>SL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908792" y="2487168"/>
            <a:ext cx="914400" cy="274320"/>
          </a:xfrm>
          <a:prstGeom prst="roundRect">
            <a:avLst>
              <a:gd name="adj" fmla="val 40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08792" y="248716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900" b="1">
                <a:solidFill>
                  <a:srgbClr val="7C3AED"/>
                </a:solidFill>
                <a:latin typeface="맑은 고딕"/>
                <a:ea typeface="맑은 고딕"/>
              </a:rPr>
              <a:t>개인 내적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91472" y="2761488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700" b="1">
                <a:solidFill>
                  <a:srgbClr val="1E1B4B"/>
                </a:solidFill>
                <a:latin typeface="맑은 고딕"/>
                <a:ea typeface="맑은 고딕"/>
              </a:rPr>
              <a:t>자기 주도력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31352" y="3474720"/>
            <a:ext cx="30815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1100" b="0">
                <a:solidFill>
                  <a:srgbClr val="4B5563"/>
                </a:solidFill>
                <a:latin typeface="맑은 고딕"/>
                <a:ea typeface="맑은 고딕"/>
              </a:rPr>
              <a:t>자신이 배울 것을 직접 정하고</a:t>
            </a:r>
          </a:p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1100" b="0">
                <a:solidFill>
                  <a:srgbClr val="4B5563"/>
                </a:solidFill>
                <a:latin typeface="맑은 고딕"/>
                <a:ea typeface="맑은 고딕"/>
              </a:rPr>
              <a:t>실행하는 독립적인 태도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297680"/>
            <a:ext cx="3721608" cy="19385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4727448"/>
            <a:ext cx="822960" cy="822960"/>
          </a:xfrm>
          <a:prstGeom prst="ellipse">
            <a:avLst/>
          </a:prstGeom>
          <a:solidFill>
            <a:srgbClr val="2E1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727448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</a:rPr>
              <a:t>CT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46120" y="4590288"/>
            <a:ext cx="914400" cy="274320"/>
          </a:xfrm>
          <a:prstGeom prst="roundRect">
            <a:avLst>
              <a:gd name="adj" fmla="val 40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46120" y="45902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900" b="1">
                <a:solidFill>
                  <a:srgbClr val="7C3AED"/>
                </a:solidFill>
                <a:latin typeface="맑은 고딕"/>
                <a:ea typeface="맑은 고딕"/>
              </a:rPr>
              <a:t>인지·표현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4864608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700" b="1">
                <a:solidFill>
                  <a:srgbClr val="1E1B4B"/>
                </a:solidFill>
                <a:latin typeface="맑은 고딕"/>
                <a:ea typeface="맑은 고딕"/>
              </a:rPr>
              <a:t>비판적 사고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5577840"/>
            <a:ext cx="30815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1100" b="0">
                <a:solidFill>
                  <a:srgbClr val="4B5563"/>
                </a:solidFill>
                <a:latin typeface="맑은 고딕"/>
                <a:ea typeface="맑은 고딕"/>
              </a:rPr>
              <a:t>정보를 분석하고 판단하는</a:t>
            </a:r>
          </a:p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1100" b="0">
                <a:solidFill>
                  <a:srgbClr val="4B5563"/>
                </a:solidFill>
                <a:latin typeface="맑은 고딕"/>
                <a:ea typeface="맑은 고딕"/>
              </a:rPr>
              <a:t>논리적 사고 능력 향상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79976" y="4297680"/>
            <a:ext cx="3721608" cy="19385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654296" y="4727448"/>
            <a:ext cx="822960" cy="822960"/>
          </a:xfrm>
          <a:prstGeom prst="ellipse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54296" y="4727448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</a:rPr>
              <a:t>SE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077456" y="4590288"/>
            <a:ext cx="914400" cy="274320"/>
          </a:xfrm>
          <a:prstGeom prst="roundRect">
            <a:avLst>
              <a:gd name="adj" fmla="val 40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77456" y="45902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900" b="1">
                <a:solidFill>
                  <a:srgbClr val="7C3AED"/>
                </a:solidFill>
                <a:latin typeface="맑은 고딕"/>
                <a:ea typeface="맑은 고딕"/>
              </a:rPr>
              <a:t>대인관계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0136" y="4864608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700" b="1">
                <a:solidFill>
                  <a:srgbClr val="1E1B4B"/>
                </a:solidFill>
                <a:latin typeface="맑은 고딕"/>
                <a:ea typeface="맑은 고딕"/>
              </a:rPr>
              <a:t>사회적 감수성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00016" y="5577840"/>
            <a:ext cx="30815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1100" b="0">
                <a:solidFill>
                  <a:srgbClr val="4B5563"/>
                </a:solidFill>
                <a:latin typeface="맑은 고딕"/>
                <a:ea typeface="맑은 고딕"/>
              </a:rPr>
              <a:t>공동체의 문제에 공감하고</a:t>
            </a:r>
          </a:p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1100" b="0">
                <a:solidFill>
                  <a:srgbClr val="4B5563"/>
                </a:solidFill>
                <a:latin typeface="맑은 고딕"/>
                <a:ea typeface="맑은 고딕"/>
              </a:rPr>
              <a:t>실천으로 옮기는 시민의식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11312" y="4297680"/>
            <a:ext cx="3721608" cy="19385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485632" y="4727448"/>
            <a:ext cx="822960" cy="8229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85632" y="4727448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</a:rPr>
              <a:t>CR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908792" y="4590288"/>
            <a:ext cx="914400" cy="274320"/>
          </a:xfrm>
          <a:prstGeom prst="roundRect">
            <a:avLst>
              <a:gd name="adj" fmla="val 40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908792" y="45902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900" b="1">
                <a:solidFill>
                  <a:srgbClr val="7C3AED"/>
                </a:solidFill>
                <a:latin typeface="맑은 고딕"/>
                <a:ea typeface="맑은 고딕"/>
              </a:rPr>
              <a:t>인지·표현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91472" y="4864608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700" b="1">
                <a:solidFill>
                  <a:srgbClr val="1E1B4B"/>
                </a:solidFill>
                <a:latin typeface="맑은 고딕"/>
                <a:ea typeface="맑은 고딕"/>
              </a:rPr>
              <a:t>창의적 표현력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31352" y="5577840"/>
            <a:ext cx="30815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1100" b="0">
                <a:solidFill>
                  <a:srgbClr val="4B5563"/>
                </a:solidFill>
                <a:latin typeface="맑은 고딕"/>
                <a:ea typeface="맑은 고딕"/>
              </a:rPr>
              <a:t>다양한 도구와 매체를 활용해</a:t>
            </a:r>
          </a:p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1100" b="0">
                <a:solidFill>
                  <a:srgbClr val="4B5563"/>
                </a:solidFill>
                <a:latin typeface="맑은 고딕"/>
                <a:ea typeface="맑은 고딕"/>
              </a:rPr>
              <a:t>자신만의 방식으로 표현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630936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맑은 고딕"/>
                <a:ea typeface="맑은 고딕"/>
              </a:rPr>
              <a:t>주) 6대 역량은 상호 독립적이 아니라 부분적으로 상관된 역량군(competency cluster)으로 설정되며, 사전·사후 프로파일 비교를 통해 변화 양상을 분석한다.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  <a:ea typeface="맑은 고딕"/>
              </a:rPr>
              <a:t>초등 3~4학년 핵심 역량 진단시스템 개발 기획서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  <a:ea typeface="맑은 고딕"/>
              </a:rP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1645920" cy="310896"/>
          </a:xfrm>
          <a:prstGeom prst="roundRect">
            <a:avLst>
              <a:gd name="adj" fmla="val 4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5B21B6"/>
                </a:solidFill>
                <a:latin typeface="맑은 고딕"/>
                <a:ea typeface="맑은 고딕"/>
              </a:rPr>
              <a:t>PART 02  역량 프레임워크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800" b="1">
                <a:solidFill>
                  <a:srgbClr val="1E1B4B"/>
                </a:solidFill>
                <a:latin typeface="맑은 고딕"/>
                <a:ea typeface="맑은 고딕"/>
              </a:rPr>
              <a:t>소통과 협업  ·  CO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11155680" cy="127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828800"/>
            <a:ext cx="1005840" cy="1005840"/>
          </a:xfrm>
          <a:prstGeom prst="ellipse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</a:rPr>
              <a:t>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9202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1">
                <a:solidFill>
                  <a:srgbClr val="5B21B6"/>
                </a:solidFill>
                <a:latin typeface="맑은 고딕"/>
                <a:ea typeface="맑은 고딕"/>
              </a:rPr>
              <a:t>조작적 정의 (Operational Definition)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240280"/>
            <a:ext cx="4754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250" b="0">
                <a:solidFill>
                  <a:srgbClr val="1E1B4B"/>
                </a:solidFill>
                <a:latin typeface="맑은 고딕"/>
                <a:ea typeface="맑은 고딕"/>
              </a:rPr>
              <a:t>또래·교사와 상호작용하며 자신의 의견을 적절히 표현하고, 타인의 의견을 경청하여 공동의 목표를 달성해 가는 능력.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66160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1">
                <a:solidFill>
                  <a:srgbClr val="2E1065"/>
                </a:solidFill>
                <a:latin typeface="맑은 고딕"/>
                <a:ea typeface="맑은 고딕"/>
              </a:rPr>
              <a:t>하위 구인 (Sub-constructs)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31920"/>
            <a:ext cx="3017520" cy="105156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4059936"/>
            <a:ext cx="261518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2E1065"/>
                </a:solidFill>
                <a:latin typeface="맑은 고딕"/>
                <a:ea typeface="맑은 고딕"/>
              </a:rPr>
              <a:t>경청·이해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370832"/>
            <a:ext cx="26151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000" b="0">
                <a:solidFill>
                  <a:srgbClr val="4B5563"/>
                </a:solidFill>
                <a:latin typeface="맑은 고딕"/>
                <a:ea typeface="맑은 고딕"/>
              </a:rPr>
              <a:t>타인의 발화를 끝까지 듣고 요지를 파악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75888" y="3931920"/>
            <a:ext cx="3017520" cy="105156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77056" y="4059936"/>
            <a:ext cx="261518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2E1065"/>
                </a:solidFill>
                <a:latin typeface="맑은 고딕"/>
                <a:ea typeface="맑은 고딕"/>
              </a:rPr>
              <a:t>의견 표현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77056" y="4370832"/>
            <a:ext cx="26151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000" b="0">
                <a:solidFill>
                  <a:srgbClr val="4B5563"/>
                </a:solidFill>
                <a:latin typeface="맑은 고딕"/>
                <a:ea typeface="맑은 고딕"/>
              </a:rPr>
              <a:t>자신의 생각을 타인이 이해 가능하게 전달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093208"/>
            <a:ext cx="3017520" cy="105156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5221224"/>
            <a:ext cx="261518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2E1065"/>
                </a:solidFill>
                <a:latin typeface="맑은 고딕"/>
                <a:ea typeface="맑은 고딕"/>
              </a:rPr>
              <a:t>역할 분담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5532120"/>
            <a:ext cx="26151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000" b="0">
                <a:solidFill>
                  <a:srgbClr val="4B5563"/>
                </a:solidFill>
                <a:latin typeface="맑은 고딕"/>
                <a:ea typeface="맑은 고딕"/>
              </a:rPr>
              <a:t>모둠 내 역할을 수용하고 책임 수행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75888" y="5093208"/>
            <a:ext cx="3017520" cy="105156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77056" y="5221224"/>
            <a:ext cx="261518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2E1065"/>
                </a:solidFill>
                <a:latin typeface="맑은 고딕"/>
                <a:ea typeface="맑은 고딕"/>
              </a:rPr>
              <a:t>갈등 조정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77056" y="5532120"/>
            <a:ext cx="26151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000" b="0">
                <a:solidFill>
                  <a:srgbClr val="4B5563"/>
                </a:solidFill>
                <a:latin typeface="맑은 고딕"/>
                <a:ea typeface="맑은 고딕"/>
              </a:rPr>
              <a:t>상이한 의견에서 합의점을 찾는 능력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03720" y="1645920"/>
            <a:ext cx="4800600" cy="1170432"/>
          </a:xfrm>
          <a:prstGeom prst="roundRect">
            <a:avLst>
              <a:gd name="adj" fmla="val 4000"/>
            </a:avLst>
          </a:prstGeom>
          <a:solidFill>
            <a:srgbClr val="FAF9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04888" y="1719072"/>
            <a:ext cx="43982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5B21B6"/>
                </a:solidFill>
                <a:latin typeface="맑은 고딕"/>
                <a:ea typeface="맑은 고딕"/>
              </a:rPr>
              <a:t>이론적 근거 · 준거 척도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04888" y="1993392"/>
            <a:ext cx="439826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1050" b="0">
                <a:solidFill>
                  <a:srgbClr val="4B5563"/>
                </a:solidFill>
                <a:latin typeface="맑은 고딕"/>
                <a:ea typeface="맑은 고딕"/>
              </a:rPr>
              <a:t>이론적 근거 · Vygotsky 근접발달영역(ZPD), Johnson &amp; Johnson 협동학습 이론. 준거 척도 · 국립교육원 초등 협동기술 척도(K-CSS)와 수렴타당도 검증.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2926080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1">
                <a:solidFill>
                  <a:srgbClr val="2E1065"/>
                </a:solidFill>
                <a:latin typeface="맑은 고딕"/>
                <a:ea typeface="맑은 고딕"/>
              </a:rPr>
              <a:t>예시 문항 (자기보고 · 4점 Likert)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03720" y="3273552"/>
            <a:ext cx="292608" cy="292608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03720" y="3273552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Q1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3255264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00" b="0">
                <a:solidFill>
                  <a:srgbClr val="1E1B4B"/>
                </a:solidFill>
                <a:latin typeface="맑은 고딕"/>
                <a:ea typeface="맑은 고딕"/>
              </a:rPr>
              <a:t>나는 모둠 활동에서 친구의 말을 끝까지 듣고 대답한다.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0" y="3593592"/>
            <a:ext cx="804672" cy="237744"/>
          </a:xfrm>
          <a:prstGeom prst="roundRect">
            <a:avLst>
              <a:gd name="adj" fmla="val 40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0" y="3593592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0">
                <a:solidFill>
                  <a:srgbClr val="2E1065"/>
                </a:solidFill>
                <a:latin typeface="맑은 고딕"/>
                <a:ea typeface="맑은 고딕"/>
              </a:rPr>
              <a:t>1 · 전혀 아니다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65592" y="3593592"/>
            <a:ext cx="804672" cy="237744"/>
          </a:xfrm>
          <a:prstGeom prst="roundRect">
            <a:avLst>
              <a:gd name="adj" fmla="val 40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65592" y="3593592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0">
                <a:solidFill>
                  <a:srgbClr val="2E1065"/>
                </a:solidFill>
                <a:latin typeface="맑은 고딕"/>
                <a:ea typeface="맑은 고딕"/>
              </a:rPr>
              <a:t>2 · 아니다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15984" y="3593592"/>
            <a:ext cx="804672" cy="237744"/>
          </a:xfrm>
          <a:prstGeom prst="roundRect">
            <a:avLst>
              <a:gd name="adj" fmla="val 40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15984" y="3593592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0">
                <a:solidFill>
                  <a:srgbClr val="2E1065"/>
                </a:solidFill>
                <a:latin typeface="맑은 고딕"/>
                <a:ea typeface="맑은 고딕"/>
              </a:rPr>
              <a:t>3 · 그렇다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866376" y="3593592"/>
            <a:ext cx="804672" cy="237744"/>
          </a:xfrm>
          <a:prstGeom prst="roundRect">
            <a:avLst>
              <a:gd name="adj" fmla="val 40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66376" y="3593592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0">
                <a:solidFill>
                  <a:srgbClr val="2E1065"/>
                </a:solidFill>
                <a:latin typeface="맑은 고딕"/>
                <a:ea typeface="맑은 고딕"/>
              </a:rPr>
              <a:t>4 · 매우 그렇다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03720" y="3986784"/>
            <a:ext cx="292608" cy="292608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03720" y="3986784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Q2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0" y="3968496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00" b="0">
                <a:solidFill>
                  <a:srgbClr val="1E1B4B"/>
                </a:solidFill>
                <a:latin typeface="맑은 고딕"/>
                <a:ea typeface="맑은 고딕"/>
              </a:rPr>
              <a:t>친구와 생각이 다를 때, 내 생각의 이유를 설명할 수 있다.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0" y="4306824"/>
            <a:ext cx="804672" cy="237744"/>
          </a:xfrm>
          <a:prstGeom prst="roundRect">
            <a:avLst>
              <a:gd name="adj" fmla="val 40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0" y="4306824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0">
                <a:solidFill>
                  <a:srgbClr val="2E1065"/>
                </a:solidFill>
                <a:latin typeface="맑은 고딕"/>
                <a:ea typeface="맑은 고딕"/>
              </a:rPr>
              <a:t>1 · 전혀 아니다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65592" y="4306824"/>
            <a:ext cx="804672" cy="237744"/>
          </a:xfrm>
          <a:prstGeom prst="roundRect">
            <a:avLst>
              <a:gd name="adj" fmla="val 40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65592" y="4306824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0">
                <a:solidFill>
                  <a:srgbClr val="2E1065"/>
                </a:solidFill>
                <a:latin typeface="맑은 고딕"/>
                <a:ea typeface="맑은 고딕"/>
              </a:rPr>
              <a:t>2 · 아니다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015984" y="4306824"/>
            <a:ext cx="804672" cy="237744"/>
          </a:xfrm>
          <a:prstGeom prst="roundRect">
            <a:avLst>
              <a:gd name="adj" fmla="val 40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15984" y="4306824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0">
                <a:solidFill>
                  <a:srgbClr val="2E1065"/>
                </a:solidFill>
                <a:latin typeface="맑은 고딕"/>
                <a:ea typeface="맑은 고딕"/>
              </a:rPr>
              <a:t>3 · 그렇다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866376" y="4306824"/>
            <a:ext cx="804672" cy="237744"/>
          </a:xfrm>
          <a:prstGeom prst="roundRect">
            <a:avLst>
              <a:gd name="adj" fmla="val 40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866376" y="4306824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0">
                <a:solidFill>
                  <a:srgbClr val="2E1065"/>
                </a:solidFill>
                <a:latin typeface="맑은 고딕"/>
                <a:ea typeface="맑은 고딕"/>
              </a:rPr>
              <a:t>4 · 매우 그렇다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903720" y="4700016"/>
            <a:ext cx="292608" cy="292608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03720" y="4700016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Q3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0" y="4681728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00" b="0">
                <a:solidFill>
                  <a:srgbClr val="1E1B4B"/>
                </a:solidFill>
                <a:latin typeface="맑은 고딕"/>
                <a:ea typeface="맑은 고딕"/>
              </a:rPr>
              <a:t>모둠에서 내가 맡은 일은 끝까지 해낸다.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15200" y="5020056"/>
            <a:ext cx="804672" cy="237744"/>
          </a:xfrm>
          <a:prstGeom prst="roundRect">
            <a:avLst>
              <a:gd name="adj" fmla="val 40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15200" y="5020056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0">
                <a:solidFill>
                  <a:srgbClr val="2E1065"/>
                </a:solidFill>
                <a:latin typeface="맑은 고딕"/>
                <a:ea typeface="맑은 고딕"/>
              </a:rPr>
              <a:t>1 · 전혀 아니다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165592" y="5020056"/>
            <a:ext cx="804672" cy="237744"/>
          </a:xfrm>
          <a:prstGeom prst="roundRect">
            <a:avLst>
              <a:gd name="adj" fmla="val 40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165592" y="5020056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0">
                <a:solidFill>
                  <a:srgbClr val="2E1065"/>
                </a:solidFill>
                <a:latin typeface="맑은 고딕"/>
                <a:ea typeface="맑은 고딕"/>
              </a:rPr>
              <a:t>2 · 아니다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015984" y="5020056"/>
            <a:ext cx="804672" cy="237744"/>
          </a:xfrm>
          <a:prstGeom prst="roundRect">
            <a:avLst>
              <a:gd name="adj" fmla="val 40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015984" y="5020056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0">
                <a:solidFill>
                  <a:srgbClr val="2E1065"/>
                </a:solidFill>
                <a:latin typeface="맑은 고딕"/>
                <a:ea typeface="맑은 고딕"/>
              </a:rPr>
              <a:t>3 · 그렇다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866376" y="5020056"/>
            <a:ext cx="804672" cy="237744"/>
          </a:xfrm>
          <a:prstGeom prst="roundRect">
            <a:avLst>
              <a:gd name="adj" fmla="val 40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866376" y="5020056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0">
                <a:solidFill>
                  <a:srgbClr val="2E1065"/>
                </a:solidFill>
                <a:latin typeface="맑은 고딕"/>
                <a:ea typeface="맑은 고딕"/>
              </a:rPr>
              <a:t>4 · 매우 그렇다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903720" y="5504688"/>
            <a:ext cx="4800600" cy="804672"/>
          </a:xfrm>
          <a:prstGeom prst="roundRect">
            <a:avLst>
              <a:gd name="adj" fmla="val 4000"/>
            </a:avLst>
          </a:prstGeom>
          <a:solidFill>
            <a:srgbClr val="2E1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104888" y="5577840"/>
            <a:ext cx="43982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F59E0B"/>
                </a:solidFill>
                <a:latin typeface="맑은 고딕"/>
                <a:ea typeface="맑은 고딕"/>
              </a:rPr>
              <a:t>수행·상황형 평가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104888" y="5833872"/>
            <a:ext cx="439826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맑은 고딕"/>
                <a:ea typeface="맑은 고딕"/>
              </a:rPr>
              <a:t>상황형 · ‘모둠 과제 중 한 친구가 역할을 하지 않고 있다. 네가 할 수 있는 일은 무엇인가?’ (개방형 + 3지 선택형)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  <a:ea typeface="맑은 고딕"/>
              </a:rPr>
              <a:t>초등 3~4학년 핵심 역량 진단시스템 개발 기획서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  <a:ea typeface="맑은 고딕"/>
              </a:rP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1645920" cy="310896"/>
          </a:xfrm>
          <a:prstGeom prst="roundRect">
            <a:avLst>
              <a:gd name="adj" fmla="val 4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5B21B6"/>
                </a:solidFill>
                <a:latin typeface="맑은 고딕"/>
                <a:ea typeface="맑은 고딕"/>
              </a:rPr>
              <a:t>PART 02  역량 프레임워크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800" b="1">
                <a:solidFill>
                  <a:srgbClr val="1E1B4B"/>
                </a:solidFill>
                <a:latin typeface="맑은 고딕"/>
                <a:ea typeface="맑은 고딕"/>
              </a:rPr>
              <a:t>회복 탄력성  ·  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11155680" cy="127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828800"/>
            <a:ext cx="1005840" cy="10058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</a:rPr>
              <a:t>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9202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1">
                <a:solidFill>
                  <a:srgbClr val="7C3AED"/>
                </a:solidFill>
                <a:latin typeface="맑은 고딕"/>
                <a:ea typeface="맑은 고딕"/>
              </a:rPr>
              <a:t>조작적 정의 (Operational Definition)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240280"/>
            <a:ext cx="4754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250" b="0">
                <a:solidFill>
                  <a:srgbClr val="1E1B4B"/>
                </a:solidFill>
                <a:latin typeface="맑은 고딕"/>
                <a:ea typeface="맑은 고딕"/>
              </a:rPr>
              <a:t>실패·좌절·스트레스 상황에서 부정 정서를 조절하고 재도전 행동을 선택하는 심리적 적응 능력.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66160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1">
                <a:solidFill>
                  <a:srgbClr val="2E1065"/>
                </a:solidFill>
                <a:latin typeface="맑은 고딕"/>
                <a:ea typeface="맑은 고딕"/>
              </a:rPr>
              <a:t>하위 구인 (Sub-constructs)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31920"/>
            <a:ext cx="3017520" cy="105156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4059936"/>
            <a:ext cx="261518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2E1065"/>
                </a:solidFill>
                <a:latin typeface="맑은 고딕"/>
                <a:ea typeface="맑은 고딕"/>
              </a:rPr>
              <a:t>정서 인식·조절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370832"/>
            <a:ext cx="26151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000" b="0">
                <a:solidFill>
                  <a:srgbClr val="4B5563"/>
                </a:solidFill>
                <a:latin typeface="맑은 고딕"/>
                <a:ea typeface="맑은 고딕"/>
              </a:rPr>
              <a:t>부정 정서를 알아차리고 진정시키는 능력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75888" y="3931920"/>
            <a:ext cx="3017520" cy="105156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77056" y="4059936"/>
            <a:ext cx="261518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2E1065"/>
                </a:solidFill>
                <a:latin typeface="맑은 고딕"/>
                <a:ea typeface="맑은 고딕"/>
              </a:rPr>
              <a:t>낙관성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77056" y="4370832"/>
            <a:ext cx="26151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000" b="0">
                <a:solidFill>
                  <a:srgbClr val="4B5563"/>
                </a:solidFill>
                <a:latin typeface="맑은 고딕"/>
                <a:ea typeface="맑은 고딕"/>
              </a:rPr>
              <a:t>어려움 속에서도 긍정적 해석을 유지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093208"/>
            <a:ext cx="3017520" cy="105156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5221224"/>
            <a:ext cx="261518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2E1065"/>
                </a:solidFill>
                <a:latin typeface="맑은 고딕"/>
                <a:ea typeface="맑은 고딕"/>
              </a:rPr>
              <a:t>자기효능감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5532120"/>
            <a:ext cx="26151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000" b="0">
                <a:solidFill>
                  <a:srgbClr val="4B5563"/>
                </a:solidFill>
                <a:latin typeface="맑은 고딕"/>
                <a:ea typeface="맑은 고딕"/>
              </a:rPr>
              <a:t>스스로 해낼 수 있다는 믿음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75888" y="5093208"/>
            <a:ext cx="3017520" cy="105156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77056" y="5221224"/>
            <a:ext cx="261518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2E1065"/>
                </a:solidFill>
                <a:latin typeface="맑은 고딕"/>
                <a:ea typeface="맑은 고딕"/>
              </a:rPr>
              <a:t>재도전 의지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77056" y="5532120"/>
            <a:ext cx="26151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000" b="0">
                <a:solidFill>
                  <a:srgbClr val="4B5563"/>
                </a:solidFill>
                <a:latin typeface="맑은 고딕"/>
                <a:ea typeface="맑은 고딕"/>
              </a:rPr>
              <a:t>실패 후 다시 시도하려는 행동 경향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03720" y="1645920"/>
            <a:ext cx="4800600" cy="1170432"/>
          </a:xfrm>
          <a:prstGeom prst="roundRect">
            <a:avLst>
              <a:gd name="adj" fmla="val 4000"/>
            </a:avLst>
          </a:prstGeom>
          <a:solidFill>
            <a:srgbClr val="FAF9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04888" y="1719072"/>
            <a:ext cx="43982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7C3AED"/>
                </a:solidFill>
                <a:latin typeface="맑은 고딕"/>
                <a:ea typeface="맑은 고딕"/>
              </a:rPr>
              <a:t>이론적 근거 · 준거 척도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04888" y="1993392"/>
            <a:ext cx="439826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1050" b="0">
                <a:solidFill>
                  <a:srgbClr val="4B5563"/>
                </a:solidFill>
                <a:latin typeface="맑은 고딕"/>
                <a:ea typeface="맑은 고딕"/>
              </a:rPr>
              <a:t>이론적 근거 · Grotberg의 I HAVE/I AM/I CAN, Masten의 Ordinary Magic. 준거 척도 · CYRM-12(Child &amp; Youth Resilience Measure) 한국어판.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2926080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1">
                <a:solidFill>
                  <a:srgbClr val="2E1065"/>
                </a:solidFill>
                <a:latin typeface="맑은 고딕"/>
                <a:ea typeface="맑은 고딕"/>
              </a:rPr>
              <a:t>예시 문항 (자기보고 · 4점 Likert)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03720" y="3273552"/>
            <a:ext cx="292608" cy="2926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03720" y="3273552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Q1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3255264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00" b="0">
                <a:solidFill>
                  <a:srgbClr val="1E1B4B"/>
                </a:solidFill>
                <a:latin typeface="맑은 고딕"/>
                <a:ea typeface="맑은 고딕"/>
              </a:rPr>
              <a:t>어려운 문제를 풀다 막혀도 다른 방법으로 다시 해본다.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0" y="3593592"/>
            <a:ext cx="804672" cy="237744"/>
          </a:xfrm>
          <a:prstGeom prst="roundRect">
            <a:avLst>
              <a:gd name="adj" fmla="val 40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0" y="3593592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0">
                <a:solidFill>
                  <a:srgbClr val="2E1065"/>
                </a:solidFill>
                <a:latin typeface="맑은 고딕"/>
                <a:ea typeface="맑은 고딕"/>
              </a:rPr>
              <a:t>1 · 전혀 아니다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65592" y="3593592"/>
            <a:ext cx="804672" cy="237744"/>
          </a:xfrm>
          <a:prstGeom prst="roundRect">
            <a:avLst>
              <a:gd name="adj" fmla="val 40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65592" y="3593592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0">
                <a:solidFill>
                  <a:srgbClr val="2E1065"/>
                </a:solidFill>
                <a:latin typeface="맑은 고딕"/>
                <a:ea typeface="맑은 고딕"/>
              </a:rPr>
              <a:t>2 · 아니다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15984" y="3593592"/>
            <a:ext cx="804672" cy="237744"/>
          </a:xfrm>
          <a:prstGeom prst="roundRect">
            <a:avLst>
              <a:gd name="adj" fmla="val 40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15984" y="3593592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0">
                <a:solidFill>
                  <a:srgbClr val="2E1065"/>
                </a:solidFill>
                <a:latin typeface="맑은 고딕"/>
                <a:ea typeface="맑은 고딕"/>
              </a:rPr>
              <a:t>3 · 그렇다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866376" y="3593592"/>
            <a:ext cx="804672" cy="237744"/>
          </a:xfrm>
          <a:prstGeom prst="roundRect">
            <a:avLst>
              <a:gd name="adj" fmla="val 40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66376" y="3593592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0">
                <a:solidFill>
                  <a:srgbClr val="2E1065"/>
                </a:solidFill>
                <a:latin typeface="맑은 고딕"/>
                <a:ea typeface="맑은 고딕"/>
              </a:rPr>
              <a:t>4 · 매우 그렇다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03720" y="3986784"/>
            <a:ext cx="292608" cy="2926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03720" y="3986784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Q2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0" y="3968496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00" b="0">
                <a:solidFill>
                  <a:srgbClr val="1E1B4B"/>
                </a:solidFill>
                <a:latin typeface="맑은 고딕"/>
                <a:ea typeface="맑은 고딕"/>
              </a:rPr>
              <a:t>실수를 했을 때 스스로를 위로할 수 있다.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0" y="4306824"/>
            <a:ext cx="804672" cy="237744"/>
          </a:xfrm>
          <a:prstGeom prst="roundRect">
            <a:avLst>
              <a:gd name="adj" fmla="val 40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0" y="4306824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0">
                <a:solidFill>
                  <a:srgbClr val="2E1065"/>
                </a:solidFill>
                <a:latin typeface="맑은 고딕"/>
                <a:ea typeface="맑은 고딕"/>
              </a:rPr>
              <a:t>1 · 전혀 아니다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65592" y="4306824"/>
            <a:ext cx="804672" cy="237744"/>
          </a:xfrm>
          <a:prstGeom prst="roundRect">
            <a:avLst>
              <a:gd name="adj" fmla="val 40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65592" y="4306824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0">
                <a:solidFill>
                  <a:srgbClr val="2E1065"/>
                </a:solidFill>
                <a:latin typeface="맑은 고딕"/>
                <a:ea typeface="맑은 고딕"/>
              </a:rPr>
              <a:t>2 · 아니다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015984" y="4306824"/>
            <a:ext cx="804672" cy="237744"/>
          </a:xfrm>
          <a:prstGeom prst="roundRect">
            <a:avLst>
              <a:gd name="adj" fmla="val 40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15984" y="4306824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0">
                <a:solidFill>
                  <a:srgbClr val="2E1065"/>
                </a:solidFill>
                <a:latin typeface="맑은 고딕"/>
                <a:ea typeface="맑은 고딕"/>
              </a:rPr>
              <a:t>3 · 그렇다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866376" y="4306824"/>
            <a:ext cx="804672" cy="237744"/>
          </a:xfrm>
          <a:prstGeom prst="roundRect">
            <a:avLst>
              <a:gd name="adj" fmla="val 40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866376" y="4306824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0">
                <a:solidFill>
                  <a:srgbClr val="2E1065"/>
                </a:solidFill>
                <a:latin typeface="맑은 고딕"/>
                <a:ea typeface="맑은 고딕"/>
              </a:rPr>
              <a:t>4 · 매우 그렇다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903720" y="4700016"/>
            <a:ext cx="292608" cy="2926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03720" y="4700016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Q3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0" y="4681728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00" b="0">
                <a:solidFill>
                  <a:srgbClr val="1E1B4B"/>
                </a:solidFill>
                <a:latin typeface="맑은 고딕"/>
                <a:ea typeface="맑은 고딕"/>
              </a:rPr>
              <a:t>기분이 나쁠 때 마음을 가라앉히는 나만의 방법이 있다.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15200" y="5020056"/>
            <a:ext cx="804672" cy="237744"/>
          </a:xfrm>
          <a:prstGeom prst="roundRect">
            <a:avLst>
              <a:gd name="adj" fmla="val 40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15200" y="5020056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0">
                <a:solidFill>
                  <a:srgbClr val="2E1065"/>
                </a:solidFill>
                <a:latin typeface="맑은 고딕"/>
                <a:ea typeface="맑은 고딕"/>
              </a:rPr>
              <a:t>1 · 전혀 아니다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165592" y="5020056"/>
            <a:ext cx="804672" cy="237744"/>
          </a:xfrm>
          <a:prstGeom prst="roundRect">
            <a:avLst>
              <a:gd name="adj" fmla="val 40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165592" y="5020056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0">
                <a:solidFill>
                  <a:srgbClr val="2E1065"/>
                </a:solidFill>
                <a:latin typeface="맑은 고딕"/>
                <a:ea typeface="맑은 고딕"/>
              </a:rPr>
              <a:t>2 · 아니다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015984" y="5020056"/>
            <a:ext cx="804672" cy="237744"/>
          </a:xfrm>
          <a:prstGeom prst="roundRect">
            <a:avLst>
              <a:gd name="adj" fmla="val 40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015984" y="5020056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0">
                <a:solidFill>
                  <a:srgbClr val="2E1065"/>
                </a:solidFill>
                <a:latin typeface="맑은 고딕"/>
                <a:ea typeface="맑은 고딕"/>
              </a:rPr>
              <a:t>3 · 그렇다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866376" y="5020056"/>
            <a:ext cx="804672" cy="237744"/>
          </a:xfrm>
          <a:prstGeom prst="roundRect">
            <a:avLst>
              <a:gd name="adj" fmla="val 40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866376" y="5020056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0">
                <a:solidFill>
                  <a:srgbClr val="2E1065"/>
                </a:solidFill>
                <a:latin typeface="맑은 고딕"/>
                <a:ea typeface="맑은 고딕"/>
              </a:rPr>
              <a:t>4 · 매우 그렇다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903720" y="5504688"/>
            <a:ext cx="4800600" cy="804672"/>
          </a:xfrm>
          <a:prstGeom prst="roundRect">
            <a:avLst>
              <a:gd name="adj" fmla="val 4000"/>
            </a:avLst>
          </a:prstGeom>
          <a:solidFill>
            <a:srgbClr val="2E1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104888" y="5577840"/>
            <a:ext cx="43982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F59E0B"/>
                </a:solidFill>
                <a:latin typeface="맑은 고딕"/>
                <a:ea typeface="맑은 고딕"/>
              </a:rPr>
              <a:t>수행·상황형 평가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104888" y="5833872"/>
            <a:ext cx="439826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맑은 고딕"/>
                <a:ea typeface="맑은 고딕"/>
              </a:rPr>
              <a:t>상황형 · ‘수행 평가에서 낮은 점수를 받았다. 이때 네 마음과 다음 행동을 써 보자.’ (자유 서술 + 정서 체크리스트)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  <a:ea typeface="맑은 고딕"/>
              </a:rPr>
              <a:t>초등 3~4학년 핵심 역량 진단시스템 개발 기획서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  <a:ea typeface="맑은 고딕"/>
              </a:rP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1645920" cy="310896"/>
          </a:xfrm>
          <a:prstGeom prst="roundRect">
            <a:avLst>
              <a:gd name="adj" fmla="val 4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5B21B6"/>
                </a:solidFill>
                <a:latin typeface="맑은 고딕"/>
                <a:ea typeface="맑은 고딕"/>
              </a:rPr>
              <a:t>PART 02  역량 프레임워크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800" b="1">
                <a:solidFill>
                  <a:srgbClr val="1E1B4B"/>
                </a:solidFill>
                <a:latin typeface="맑은 고딕"/>
                <a:ea typeface="맑은 고딕"/>
              </a:rPr>
              <a:t>자기 주도력  ·  SL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11155680" cy="127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828800"/>
            <a:ext cx="1005840" cy="10058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</a:rPr>
              <a:t>SL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9202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1">
                <a:solidFill>
                  <a:srgbClr val="0D9488"/>
                </a:solidFill>
                <a:latin typeface="맑은 고딕"/>
                <a:ea typeface="맑은 고딕"/>
              </a:rPr>
              <a:t>조작적 정의 (Operational Definition)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240280"/>
            <a:ext cx="4754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250" b="0">
                <a:solidFill>
                  <a:srgbClr val="1E1B4B"/>
                </a:solidFill>
                <a:latin typeface="맑은 고딕"/>
                <a:ea typeface="맑은 고딕"/>
              </a:rPr>
              <a:t>학습·생활 맥락에서 스스로 목표를 설정하고, 계획하며, 점검·조정하는 자기조절 기반의 주도적 태도.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66160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1">
                <a:solidFill>
                  <a:srgbClr val="2E1065"/>
                </a:solidFill>
                <a:latin typeface="맑은 고딕"/>
                <a:ea typeface="맑은 고딕"/>
              </a:rPr>
              <a:t>하위 구인 (Sub-constructs)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31920"/>
            <a:ext cx="3017520" cy="105156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4059936"/>
            <a:ext cx="261518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2E1065"/>
                </a:solidFill>
                <a:latin typeface="맑은 고딕"/>
                <a:ea typeface="맑은 고딕"/>
              </a:rPr>
              <a:t>자기인식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370832"/>
            <a:ext cx="26151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000" b="0">
                <a:solidFill>
                  <a:srgbClr val="4B5563"/>
                </a:solidFill>
                <a:latin typeface="맑은 고딕"/>
                <a:ea typeface="맑은 고딕"/>
              </a:rPr>
              <a:t>자신의 강점·약점·관심을 파악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75888" y="3931920"/>
            <a:ext cx="3017520" cy="105156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77056" y="4059936"/>
            <a:ext cx="261518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2E1065"/>
                </a:solidFill>
                <a:latin typeface="맑은 고딕"/>
                <a:ea typeface="맑은 고딕"/>
              </a:rPr>
              <a:t>목표 수립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77056" y="4370832"/>
            <a:ext cx="26151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000" b="0">
                <a:solidFill>
                  <a:srgbClr val="4B5563"/>
                </a:solidFill>
                <a:latin typeface="맑은 고딕"/>
                <a:ea typeface="맑은 고딕"/>
              </a:rPr>
              <a:t>구체적·측정 가능한 목표 설정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093208"/>
            <a:ext cx="3017520" cy="105156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5221224"/>
            <a:ext cx="261518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2E1065"/>
                </a:solidFill>
                <a:latin typeface="맑은 고딕"/>
                <a:ea typeface="맑은 고딕"/>
              </a:rPr>
              <a:t>계획·점검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5532120"/>
            <a:ext cx="26151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000" b="0">
                <a:solidFill>
                  <a:srgbClr val="4B5563"/>
                </a:solidFill>
                <a:latin typeface="맑은 고딕"/>
                <a:ea typeface="맑은 고딕"/>
              </a:rPr>
              <a:t>시간·자원을 배분하고 진행을 확인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75888" y="5093208"/>
            <a:ext cx="3017520" cy="105156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77056" y="5221224"/>
            <a:ext cx="261518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2E1065"/>
                </a:solidFill>
                <a:latin typeface="맑은 고딕"/>
                <a:ea typeface="맑은 고딕"/>
              </a:rPr>
              <a:t>책임·지속성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77056" y="5532120"/>
            <a:ext cx="26151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000" b="0">
                <a:solidFill>
                  <a:srgbClr val="4B5563"/>
                </a:solidFill>
                <a:latin typeface="맑은 고딕"/>
                <a:ea typeface="맑은 고딕"/>
              </a:rPr>
              <a:t>시작한 일을 끝까지 지속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03720" y="1645920"/>
            <a:ext cx="4800600" cy="1170432"/>
          </a:xfrm>
          <a:prstGeom prst="roundRect">
            <a:avLst>
              <a:gd name="adj" fmla="val 4000"/>
            </a:avLst>
          </a:prstGeom>
          <a:solidFill>
            <a:srgbClr val="FAF9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04888" y="1719072"/>
            <a:ext cx="43982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D9488"/>
                </a:solidFill>
                <a:latin typeface="맑은 고딕"/>
                <a:ea typeface="맑은 고딕"/>
              </a:rPr>
              <a:t>이론적 근거 · 준거 척도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04888" y="1993392"/>
            <a:ext cx="439826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1050" b="0">
                <a:solidFill>
                  <a:srgbClr val="4B5563"/>
                </a:solidFill>
                <a:latin typeface="맑은 고딕"/>
                <a:ea typeface="맑은 고딕"/>
              </a:rPr>
              <a:t>이론적 근거 · Zimmerman 자기조절학습 순환모형(예견–수행–자기성찰), Deci &amp; Ryan 자기결정성 이론. 준거 척도 · MSLQ 아동용 축약판.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2926080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1">
                <a:solidFill>
                  <a:srgbClr val="2E1065"/>
                </a:solidFill>
                <a:latin typeface="맑은 고딕"/>
                <a:ea typeface="맑은 고딕"/>
              </a:rPr>
              <a:t>예시 문항 (자기보고 · 4점 Likert)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03720" y="3273552"/>
            <a:ext cx="292608" cy="2926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03720" y="3273552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Q1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3255264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00" b="0">
                <a:solidFill>
                  <a:srgbClr val="1E1B4B"/>
                </a:solidFill>
                <a:latin typeface="맑은 고딕"/>
                <a:ea typeface="맑은 고딕"/>
              </a:rPr>
              <a:t>오늘 할 일을 스스로 정하고 체크해 본다.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0" y="3593592"/>
            <a:ext cx="804672" cy="237744"/>
          </a:xfrm>
          <a:prstGeom prst="roundRect">
            <a:avLst>
              <a:gd name="adj" fmla="val 40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0" y="3593592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0">
                <a:solidFill>
                  <a:srgbClr val="2E1065"/>
                </a:solidFill>
                <a:latin typeface="맑은 고딕"/>
                <a:ea typeface="맑은 고딕"/>
              </a:rPr>
              <a:t>1 · 전혀 아니다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65592" y="3593592"/>
            <a:ext cx="804672" cy="237744"/>
          </a:xfrm>
          <a:prstGeom prst="roundRect">
            <a:avLst>
              <a:gd name="adj" fmla="val 40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65592" y="3593592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0">
                <a:solidFill>
                  <a:srgbClr val="2E1065"/>
                </a:solidFill>
                <a:latin typeface="맑은 고딕"/>
                <a:ea typeface="맑은 고딕"/>
              </a:rPr>
              <a:t>2 · 아니다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15984" y="3593592"/>
            <a:ext cx="804672" cy="237744"/>
          </a:xfrm>
          <a:prstGeom prst="roundRect">
            <a:avLst>
              <a:gd name="adj" fmla="val 40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15984" y="3593592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0">
                <a:solidFill>
                  <a:srgbClr val="2E1065"/>
                </a:solidFill>
                <a:latin typeface="맑은 고딕"/>
                <a:ea typeface="맑은 고딕"/>
              </a:rPr>
              <a:t>3 · 그렇다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866376" y="3593592"/>
            <a:ext cx="804672" cy="237744"/>
          </a:xfrm>
          <a:prstGeom prst="roundRect">
            <a:avLst>
              <a:gd name="adj" fmla="val 40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66376" y="3593592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0">
                <a:solidFill>
                  <a:srgbClr val="2E1065"/>
                </a:solidFill>
                <a:latin typeface="맑은 고딕"/>
                <a:ea typeface="맑은 고딕"/>
              </a:rPr>
              <a:t>4 · 매우 그렇다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03720" y="3986784"/>
            <a:ext cx="292608" cy="2926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03720" y="3986784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Q2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0" y="3968496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00" b="0">
                <a:solidFill>
                  <a:srgbClr val="1E1B4B"/>
                </a:solidFill>
                <a:latin typeface="맑은 고딕"/>
                <a:ea typeface="맑은 고딕"/>
              </a:rPr>
              <a:t>숙제를 시작하기 전에 무엇을 먼저 할지 생각한다.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0" y="4306824"/>
            <a:ext cx="804672" cy="237744"/>
          </a:xfrm>
          <a:prstGeom prst="roundRect">
            <a:avLst>
              <a:gd name="adj" fmla="val 40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0" y="4306824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0">
                <a:solidFill>
                  <a:srgbClr val="2E1065"/>
                </a:solidFill>
                <a:latin typeface="맑은 고딕"/>
                <a:ea typeface="맑은 고딕"/>
              </a:rPr>
              <a:t>1 · 전혀 아니다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65592" y="4306824"/>
            <a:ext cx="804672" cy="237744"/>
          </a:xfrm>
          <a:prstGeom prst="roundRect">
            <a:avLst>
              <a:gd name="adj" fmla="val 40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65592" y="4306824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0">
                <a:solidFill>
                  <a:srgbClr val="2E1065"/>
                </a:solidFill>
                <a:latin typeface="맑은 고딕"/>
                <a:ea typeface="맑은 고딕"/>
              </a:rPr>
              <a:t>2 · 아니다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015984" y="4306824"/>
            <a:ext cx="804672" cy="237744"/>
          </a:xfrm>
          <a:prstGeom prst="roundRect">
            <a:avLst>
              <a:gd name="adj" fmla="val 40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15984" y="4306824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0">
                <a:solidFill>
                  <a:srgbClr val="2E1065"/>
                </a:solidFill>
                <a:latin typeface="맑은 고딕"/>
                <a:ea typeface="맑은 고딕"/>
              </a:rPr>
              <a:t>3 · 그렇다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866376" y="4306824"/>
            <a:ext cx="804672" cy="237744"/>
          </a:xfrm>
          <a:prstGeom prst="roundRect">
            <a:avLst>
              <a:gd name="adj" fmla="val 40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866376" y="4306824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0">
                <a:solidFill>
                  <a:srgbClr val="2E1065"/>
                </a:solidFill>
                <a:latin typeface="맑은 고딕"/>
                <a:ea typeface="맑은 고딕"/>
              </a:rPr>
              <a:t>4 · 매우 그렇다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903720" y="4700016"/>
            <a:ext cx="292608" cy="2926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03720" y="4700016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Q3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0" y="4681728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00" b="0">
                <a:solidFill>
                  <a:srgbClr val="1E1B4B"/>
                </a:solidFill>
                <a:latin typeface="맑은 고딕"/>
                <a:ea typeface="맑은 고딕"/>
              </a:rPr>
              <a:t>계획한 일이 잘 안 되면 방법을 바꿔 다시 시도한다.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15200" y="5020056"/>
            <a:ext cx="804672" cy="237744"/>
          </a:xfrm>
          <a:prstGeom prst="roundRect">
            <a:avLst>
              <a:gd name="adj" fmla="val 40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15200" y="5020056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0">
                <a:solidFill>
                  <a:srgbClr val="2E1065"/>
                </a:solidFill>
                <a:latin typeface="맑은 고딕"/>
                <a:ea typeface="맑은 고딕"/>
              </a:rPr>
              <a:t>1 · 전혀 아니다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165592" y="5020056"/>
            <a:ext cx="804672" cy="237744"/>
          </a:xfrm>
          <a:prstGeom prst="roundRect">
            <a:avLst>
              <a:gd name="adj" fmla="val 40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165592" y="5020056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0">
                <a:solidFill>
                  <a:srgbClr val="2E1065"/>
                </a:solidFill>
                <a:latin typeface="맑은 고딕"/>
                <a:ea typeface="맑은 고딕"/>
              </a:rPr>
              <a:t>2 · 아니다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015984" y="5020056"/>
            <a:ext cx="804672" cy="237744"/>
          </a:xfrm>
          <a:prstGeom prst="roundRect">
            <a:avLst>
              <a:gd name="adj" fmla="val 40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015984" y="5020056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0">
                <a:solidFill>
                  <a:srgbClr val="2E1065"/>
                </a:solidFill>
                <a:latin typeface="맑은 고딕"/>
                <a:ea typeface="맑은 고딕"/>
              </a:rPr>
              <a:t>3 · 그렇다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866376" y="5020056"/>
            <a:ext cx="804672" cy="237744"/>
          </a:xfrm>
          <a:prstGeom prst="roundRect">
            <a:avLst>
              <a:gd name="adj" fmla="val 40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866376" y="5020056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0">
                <a:solidFill>
                  <a:srgbClr val="2E1065"/>
                </a:solidFill>
                <a:latin typeface="맑은 고딕"/>
                <a:ea typeface="맑은 고딕"/>
              </a:rPr>
              <a:t>4 · 매우 그렇다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903720" y="5504688"/>
            <a:ext cx="4800600" cy="804672"/>
          </a:xfrm>
          <a:prstGeom prst="roundRect">
            <a:avLst>
              <a:gd name="adj" fmla="val 4000"/>
            </a:avLst>
          </a:prstGeom>
          <a:solidFill>
            <a:srgbClr val="2E1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104888" y="5577840"/>
            <a:ext cx="43982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F59E0B"/>
                </a:solidFill>
                <a:latin typeface="맑은 고딕"/>
                <a:ea typeface="맑은 고딕"/>
              </a:rPr>
              <a:t>수행·상황형 평가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104888" y="5833872"/>
            <a:ext cx="439826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맑은 고딕"/>
                <a:ea typeface="맑은 고딕"/>
              </a:rPr>
              <a:t>수행형 · 1주 단위 목표–계획–점검 일지를 기록하고 교사 루브릭으로 채점(3점 척도).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  <a:ea typeface="맑은 고딕"/>
              </a:rPr>
              <a:t>초등 3~4학년 핵심 역량 진단시스템 개발 기획서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  <a:ea typeface="맑은 고딕"/>
              </a:rP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1645920" cy="310896"/>
          </a:xfrm>
          <a:prstGeom prst="roundRect">
            <a:avLst>
              <a:gd name="adj" fmla="val 4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5B21B6"/>
                </a:solidFill>
                <a:latin typeface="맑은 고딕"/>
                <a:ea typeface="맑은 고딕"/>
              </a:rPr>
              <a:t>PART 02  역량 프레임워크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800" b="1">
                <a:solidFill>
                  <a:srgbClr val="1E1B4B"/>
                </a:solidFill>
                <a:latin typeface="맑은 고딕"/>
                <a:ea typeface="맑은 고딕"/>
              </a:rPr>
              <a:t>비판적 사고  ·  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11155680" cy="127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828800"/>
            <a:ext cx="1005840" cy="1005840"/>
          </a:xfrm>
          <a:prstGeom prst="ellipse">
            <a:avLst/>
          </a:prstGeom>
          <a:solidFill>
            <a:srgbClr val="2E1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</a:rPr>
              <a:t>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9202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1">
                <a:solidFill>
                  <a:srgbClr val="2E1065"/>
                </a:solidFill>
                <a:latin typeface="맑은 고딕"/>
                <a:ea typeface="맑은 고딕"/>
              </a:rPr>
              <a:t>조작적 정의 (Operational Definition)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240280"/>
            <a:ext cx="4754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250" b="0">
                <a:solidFill>
                  <a:srgbClr val="1E1B4B"/>
                </a:solidFill>
                <a:latin typeface="맑은 고딕"/>
                <a:ea typeface="맑은 고딕"/>
              </a:rPr>
              <a:t>정보를 관찰·분류하고, 근거의 적절성을 판단하며, 대안을 탐색하는 논리적 사고 역량.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66160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1">
                <a:solidFill>
                  <a:srgbClr val="2E1065"/>
                </a:solidFill>
                <a:latin typeface="맑은 고딕"/>
                <a:ea typeface="맑은 고딕"/>
              </a:rPr>
              <a:t>하위 구인 (Sub-constructs)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31920"/>
            <a:ext cx="3017520" cy="105156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4059936"/>
            <a:ext cx="261518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2E1065"/>
                </a:solidFill>
                <a:latin typeface="맑은 고딕"/>
                <a:ea typeface="맑은 고딕"/>
              </a:rPr>
              <a:t>관찰·분류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370832"/>
            <a:ext cx="26151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000" b="0">
                <a:solidFill>
                  <a:srgbClr val="4B5563"/>
                </a:solidFill>
                <a:latin typeface="맑은 고딕"/>
                <a:ea typeface="맑은 고딕"/>
              </a:rPr>
              <a:t>정보를 기준에 따라 구분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75888" y="3931920"/>
            <a:ext cx="3017520" cy="105156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77056" y="4059936"/>
            <a:ext cx="261518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2E1065"/>
                </a:solidFill>
                <a:latin typeface="맑은 고딕"/>
                <a:ea typeface="맑은 고딕"/>
              </a:rPr>
              <a:t>근거 판단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77056" y="4370832"/>
            <a:ext cx="26151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000" b="0">
                <a:solidFill>
                  <a:srgbClr val="4B5563"/>
                </a:solidFill>
                <a:latin typeface="맑은 고딕"/>
                <a:ea typeface="맑은 고딕"/>
              </a:rPr>
              <a:t>주장과 근거의 연결을 평가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093208"/>
            <a:ext cx="3017520" cy="105156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5221224"/>
            <a:ext cx="261518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2E1065"/>
                </a:solidFill>
                <a:latin typeface="맑은 고딕"/>
                <a:ea typeface="맑은 고딕"/>
              </a:rPr>
              <a:t>대안 탐색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5532120"/>
            <a:ext cx="26151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000" b="0">
                <a:solidFill>
                  <a:srgbClr val="4B5563"/>
                </a:solidFill>
                <a:latin typeface="맑은 고딕"/>
                <a:ea typeface="맑은 고딕"/>
              </a:rPr>
              <a:t>다른 관점·해결책을 생성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75888" y="5093208"/>
            <a:ext cx="3017520" cy="105156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77056" y="5221224"/>
            <a:ext cx="261518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2E1065"/>
                </a:solidFill>
                <a:latin typeface="맑은 고딕"/>
                <a:ea typeface="맑은 고딕"/>
              </a:rPr>
              <a:t>메타인지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77056" y="5532120"/>
            <a:ext cx="26151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000" b="0">
                <a:solidFill>
                  <a:srgbClr val="4B5563"/>
                </a:solidFill>
                <a:latin typeface="맑은 고딕"/>
                <a:ea typeface="맑은 고딕"/>
              </a:rPr>
              <a:t>자기 사고 과정을 점검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03720" y="1645920"/>
            <a:ext cx="4800600" cy="1170432"/>
          </a:xfrm>
          <a:prstGeom prst="roundRect">
            <a:avLst>
              <a:gd name="adj" fmla="val 4000"/>
            </a:avLst>
          </a:prstGeom>
          <a:solidFill>
            <a:srgbClr val="FAF9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04888" y="1719072"/>
            <a:ext cx="43982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2E1065"/>
                </a:solidFill>
                <a:latin typeface="맑은 고딕"/>
                <a:ea typeface="맑은 고딕"/>
              </a:rPr>
              <a:t>이론적 근거 · 준거 척도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04888" y="1993392"/>
            <a:ext cx="439826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1050" b="0">
                <a:solidFill>
                  <a:srgbClr val="4B5563"/>
                </a:solidFill>
                <a:latin typeface="맑은 고딕"/>
                <a:ea typeface="맑은 고딕"/>
              </a:rPr>
              <a:t>이론적 근거 · Ennis 비판적 사고 성향·기능, Paul-Elder Elements of Reasoning. 준거 척도 · Cornell Critical Thinking Test Level X 초등용 문항 일부.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2926080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1">
                <a:solidFill>
                  <a:srgbClr val="2E1065"/>
                </a:solidFill>
                <a:latin typeface="맑은 고딕"/>
                <a:ea typeface="맑은 고딕"/>
              </a:rPr>
              <a:t>예시 문항 (자기보고 · 4점 Likert)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03720" y="3273552"/>
            <a:ext cx="292608" cy="292608"/>
          </a:xfrm>
          <a:prstGeom prst="rect">
            <a:avLst/>
          </a:prstGeom>
          <a:solidFill>
            <a:srgbClr val="2E1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03720" y="3273552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Q1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3255264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00" b="0">
                <a:solidFill>
                  <a:srgbClr val="1E1B4B"/>
                </a:solidFill>
                <a:latin typeface="맑은 고딕"/>
                <a:ea typeface="맑은 고딕"/>
              </a:rPr>
              <a:t>어떤 이야기를 들으면 정말 그런지 스스로 확인해 본다.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0" y="3593592"/>
            <a:ext cx="804672" cy="237744"/>
          </a:xfrm>
          <a:prstGeom prst="roundRect">
            <a:avLst>
              <a:gd name="adj" fmla="val 40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0" y="3593592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0">
                <a:solidFill>
                  <a:srgbClr val="2E1065"/>
                </a:solidFill>
                <a:latin typeface="맑은 고딕"/>
                <a:ea typeface="맑은 고딕"/>
              </a:rPr>
              <a:t>1 · 전혀 아니다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65592" y="3593592"/>
            <a:ext cx="804672" cy="237744"/>
          </a:xfrm>
          <a:prstGeom prst="roundRect">
            <a:avLst>
              <a:gd name="adj" fmla="val 40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65592" y="3593592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0">
                <a:solidFill>
                  <a:srgbClr val="2E1065"/>
                </a:solidFill>
                <a:latin typeface="맑은 고딕"/>
                <a:ea typeface="맑은 고딕"/>
              </a:rPr>
              <a:t>2 · 아니다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15984" y="3593592"/>
            <a:ext cx="804672" cy="237744"/>
          </a:xfrm>
          <a:prstGeom prst="roundRect">
            <a:avLst>
              <a:gd name="adj" fmla="val 40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15984" y="3593592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0">
                <a:solidFill>
                  <a:srgbClr val="2E1065"/>
                </a:solidFill>
                <a:latin typeface="맑은 고딕"/>
                <a:ea typeface="맑은 고딕"/>
              </a:rPr>
              <a:t>3 · 그렇다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866376" y="3593592"/>
            <a:ext cx="804672" cy="237744"/>
          </a:xfrm>
          <a:prstGeom prst="roundRect">
            <a:avLst>
              <a:gd name="adj" fmla="val 40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66376" y="3593592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0">
                <a:solidFill>
                  <a:srgbClr val="2E1065"/>
                </a:solidFill>
                <a:latin typeface="맑은 고딕"/>
                <a:ea typeface="맑은 고딕"/>
              </a:rPr>
              <a:t>4 · 매우 그렇다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03720" y="3986784"/>
            <a:ext cx="292608" cy="292608"/>
          </a:xfrm>
          <a:prstGeom prst="rect">
            <a:avLst/>
          </a:prstGeom>
          <a:solidFill>
            <a:srgbClr val="2E1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03720" y="3986784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Q2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0" y="3968496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00" b="0">
                <a:solidFill>
                  <a:srgbClr val="1E1B4B"/>
                </a:solidFill>
                <a:latin typeface="맑은 고딕"/>
                <a:ea typeface="맑은 고딕"/>
              </a:rPr>
              <a:t>왜 그럴까?라는 질문을 자주 한다.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0" y="4306824"/>
            <a:ext cx="804672" cy="237744"/>
          </a:xfrm>
          <a:prstGeom prst="roundRect">
            <a:avLst>
              <a:gd name="adj" fmla="val 40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0" y="4306824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0">
                <a:solidFill>
                  <a:srgbClr val="2E1065"/>
                </a:solidFill>
                <a:latin typeface="맑은 고딕"/>
                <a:ea typeface="맑은 고딕"/>
              </a:rPr>
              <a:t>1 · 전혀 아니다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65592" y="4306824"/>
            <a:ext cx="804672" cy="237744"/>
          </a:xfrm>
          <a:prstGeom prst="roundRect">
            <a:avLst>
              <a:gd name="adj" fmla="val 40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65592" y="4306824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0">
                <a:solidFill>
                  <a:srgbClr val="2E1065"/>
                </a:solidFill>
                <a:latin typeface="맑은 고딕"/>
                <a:ea typeface="맑은 고딕"/>
              </a:rPr>
              <a:t>2 · 아니다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015984" y="4306824"/>
            <a:ext cx="804672" cy="237744"/>
          </a:xfrm>
          <a:prstGeom prst="roundRect">
            <a:avLst>
              <a:gd name="adj" fmla="val 40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15984" y="4306824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0">
                <a:solidFill>
                  <a:srgbClr val="2E1065"/>
                </a:solidFill>
                <a:latin typeface="맑은 고딕"/>
                <a:ea typeface="맑은 고딕"/>
              </a:rPr>
              <a:t>3 · 그렇다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866376" y="4306824"/>
            <a:ext cx="804672" cy="237744"/>
          </a:xfrm>
          <a:prstGeom prst="roundRect">
            <a:avLst>
              <a:gd name="adj" fmla="val 40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866376" y="4306824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0">
                <a:solidFill>
                  <a:srgbClr val="2E1065"/>
                </a:solidFill>
                <a:latin typeface="맑은 고딕"/>
                <a:ea typeface="맑은 고딕"/>
              </a:rPr>
              <a:t>4 · 매우 그렇다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903720" y="4700016"/>
            <a:ext cx="292608" cy="292608"/>
          </a:xfrm>
          <a:prstGeom prst="rect">
            <a:avLst/>
          </a:prstGeom>
          <a:solidFill>
            <a:srgbClr val="2E1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03720" y="4700016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Q3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0" y="4681728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00" b="0">
                <a:solidFill>
                  <a:srgbClr val="1E1B4B"/>
                </a:solidFill>
                <a:latin typeface="맑은 고딕"/>
                <a:ea typeface="맑은 고딕"/>
              </a:rPr>
              <a:t>같은 일도 다른 방법으로 해결할 수 있다고 생각한다.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15200" y="5020056"/>
            <a:ext cx="804672" cy="237744"/>
          </a:xfrm>
          <a:prstGeom prst="roundRect">
            <a:avLst>
              <a:gd name="adj" fmla="val 40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15200" y="5020056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0">
                <a:solidFill>
                  <a:srgbClr val="2E1065"/>
                </a:solidFill>
                <a:latin typeface="맑은 고딕"/>
                <a:ea typeface="맑은 고딕"/>
              </a:rPr>
              <a:t>1 · 전혀 아니다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165592" y="5020056"/>
            <a:ext cx="804672" cy="237744"/>
          </a:xfrm>
          <a:prstGeom prst="roundRect">
            <a:avLst>
              <a:gd name="adj" fmla="val 40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165592" y="5020056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0">
                <a:solidFill>
                  <a:srgbClr val="2E1065"/>
                </a:solidFill>
                <a:latin typeface="맑은 고딕"/>
                <a:ea typeface="맑은 고딕"/>
              </a:rPr>
              <a:t>2 · 아니다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015984" y="5020056"/>
            <a:ext cx="804672" cy="237744"/>
          </a:xfrm>
          <a:prstGeom prst="roundRect">
            <a:avLst>
              <a:gd name="adj" fmla="val 40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015984" y="5020056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0">
                <a:solidFill>
                  <a:srgbClr val="2E1065"/>
                </a:solidFill>
                <a:latin typeface="맑은 고딕"/>
                <a:ea typeface="맑은 고딕"/>
              </a:rPr>
              <a:t>3 · 그렇다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866376" y="5020056"/>
            <a:ext cx="804672" cy="237744"/>
          </a:xfrm>
          <a:prstGeom prst="roundRect">
            <a:avLst>
              <a:gd name="adj" fmla="val 40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866376" y="5020056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0">
                <a:solidFill>
                  <a:srgbClr val="2E1065"/>
                </a:solidFill>
                <a:latin typeface="맑은 고딕"/>
                <a:ea typeface="맑은 고딕"/>
              </a:rPr>
              <a:t>4 · 매우 그렇다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903720" y="5504688"/>
            <a:ext cx="4800600" cy="804672"/>
          </a:xfrm>
          <a:prstGeom prst="roundRect">
            <a:avLst>
              <a:gd name="adj" fmla="val 4000"/>
            </a:avLst>
          </a:prstGeom>
          <a:solidFill>
            <a:srgbClr val="2E1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104888" y="5577840"/>
            <a:ext cx="43982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F59E0B"/>
                </a:solidFill>
                <a:latin typeface="맑은 고딕"/>
                <a:ea typeface="맑은 고딕"/>
              </a:rPr>
              <a:t>수행·상황형 평가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104888" y="5833872"/>
            <a:ext cx="439826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맑은 고딕"/>
                <a:ea typeface="맑은 고딕"/>
              </a:rPr>
              <a:t>수행형 · 광고·뉴스 캡처 1건을 제시하고 ‘사실·의견·근거’를 구분하도록 함 (루브릭 채점).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  <a:ea typeface="맑은 고딕"/>
              </a:rPr>
              <a:t>초등 3~4학년 핵심 역량 진단시스템 개발 기획서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  <a:ea typeface="맑은 고딕"/>
              </a:rP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1645920" cy="310896"/>
          </a:xfrm>
          <a:prstGeom prst="roundRect">
            <a:avLst>
              <a:gd name="adj" fmla="val 4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5B21B6"/>
                </a:solidFill>
                <a:latin typeface="맑은 고딕"/>
                <a:ea typeface="맑은 고딕"/>
              </a:rPr>
              <a:t>PART 02  역량 프레임워크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800" b="1">
                <a:solidFill>
                  <a:srgbClr val="1E1B4B"/>
                </a:solidFill>
                <a:latin typeface="맑은 고딕"/>
                <a:ea typeface="맑은 고딕"/>
              </a:rPr>
              <a:t>사회적 감수성  ·  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11155680" cy="127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828800"/>
            <a:ext cx="1005840" cy="1005840"/>
          </a:xfrm>
          <a:prstGeom prst="ellipse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</a:rPr>
              <a:t>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9202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1">
                <a:solidFill>
                  <a:srgbClr val="5B21B6"/>
                </a:solidFill>
                <a:latin typeface="맑은 고딕"/>
                <a:ea typeface="맑은 고딕"/>
              </a:rPr>
              <a:t>조작적 정의 (Operational Definition)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240280"/>
            <a:ext cx="4754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250" b="0">
                <a:solidFill>
                  <a:srgbClr val="1E1B4B"/>
                </a:solidFill>
                <a:latin typeface="맑은 고딕"/>
                <a:ea typeface="맑은 고딕"/>
              </a:rPr>
              <a:t>타인과 공동체의 문제에 정서적으로 공감하고, 도덕적·시민적 실천으로 연결하는 태도.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66160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1">
                <a:solidFill>
                  <a:srgbClr val="2E1065"/>
                </a:solidFill>
                <a:latin typeface="맑은 고딕"/>
                <a:ea typeface="맑은 고딕"/>
              </a:rPr>
              <a:t>하위 구인 (Sub-constructs)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31920"/>
            <a:ext cx="3017520" cy="105156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4059936"/>
            <a:ext cx="261518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2E1065"/>
                </a:solidFill>
                <a:latin typeface="맑은 고딕"/>
                <a:ea typeface="맑은 고딕"/>
              </a:rPr>
              <a:t>정서 공감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370832"/>
            <a:ext cx="26151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000" b="0">
                <a:solidFill>
                  <a:srgbClr val="4B5563"/>
                </a:solidFill>
                <a:latin typeface="맑은 고딕"/>
                <a:ea typeface="맑은 고딕"/>
              </a:rPr>
              <a:t>타인의 정서를 알아차리고 공유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75888" y="3931920"/>
            <a:ext cx="3017520" cy="105156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77056" y="4059936"/>
            <a:ext cx="261518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2E1065"/>
                </a:solidFill>
                <a:latin typeface="맑은 고딕"/>
                <a:ea typeface="맑은 고딕"/>
              </a:rPr>
              <a:t>조망 수용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77056" y="4370832"/>
            <a:ext cx="26151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000" b="0">
                <a:solidFill>
                  <a:srgbClr val="4B5563"/>
                </a:solidFill>
                <a:latin typeface="맑은 고딕"/>
                <a:ea typeface="맑은 고딕"/>
              </a:rPr>
              <a:t>타인 입장에서 상황을 이해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093208"/>
            <a:ext cx="3017520" cy="105156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5221224"/>
            <a:ext cx="261518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2E1065"/>
                </a:solidFill>
                <a:latin typeface="맑은 고딕"/>
                <a:ea typeface="맑은 고딕"/>
              </a:rPr>
              <a:t>공동체 의식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5532120"/>
            <a:ext cx="26151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000" b="0">
                <a:solidFill>
                  <a:srgbClr val="4B5563"/>
                </a:solidFill>
                <a:latin typeface="맑은 고딕"/>
                <a:ea typeface="맑은 고딕"/>
              </a:rPr>
              <a:t>집단과 사회에 대한 관심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75888" y="5093208"/>
            <a:ext cx="3017520" cy="105156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77056" y="5221224"/>
            <a:ext cx="261518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2E1065"/>
                </a:solidFill>
                <a:latin typeface="맑은 고딕"/>
                <a:ea typeface="맑은 고딕"/>
              </a:rPr>
              <a:t>도덕적 실천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77056" y="5532120"/>
            <a:ext cx="26151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000" b="0">
                <a:solidFill>
                  <a:srgbClr val="4B5563"/>
                </a:solidFill>
                <a:latin typeface="맑은 고딕"/>
                <a:ea typeface="맑은 고딕"/>
              </a:rPr>
              <a:t>옳다고 판단한 행동을 실행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03720" y="1645920"/>
            <a:ext cx="4800600" cy="1170432"/>
          </a:xfrm>
          <a:prstGeom prst="roundRect">
            <a:avLst>
              <a:gd name="adj" fmla="val 4000"/>
            </a:avLst>
          </a:prstGeom>
          <a:solidFill>
            <a:srgbClr val="FAF9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04888" y="1719072"/>
            <a:ext cx="43982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5B21B6"/>
                </a:solidFill>
                <a:latin typeface="맑은 고딕"/>
                <a:ea typeface="맑은 고딕"/>
              </a:rPr>
              <a:t>이론적 근거 · 준거 척도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04888" y="1993392"/>
            <a:ext cx="439826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1050" b="0">
                <a:solidFill>
                  <a:srgbClr val="4B5563"/>
                </a:solidFill>
                <a:latin typeface="맑은 고딕"/>
                <a:ea typeface="맑은 고딕"/>
              </a:rPr>
              <a:t>이론적 근거 · Hoffman 공감 발달 3–4단계, Kohlberg 전인습→인습 수준 전환. 준거 척도 · IRI-C 대인반응성 지수 아동판.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2926080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1">
                <a:solidFill>
                  <a:srgbClr val="2E1065"/>
                </a:solidFill>
                <a:latin typeface="맑은 고딕"/>
                <a:ea typeface="맑은 고딕"/>
              </a:rPr>
              <a:t>예시 문항 (자기보고 · 4점 Likert)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03720" y="3273552"/>
            <a:ext cx="292608" cy="292608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03720" y="3273552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Q1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3255264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00" b="0">
                <a:solidFill>
                  <a:srgbClr val="1E1B4B"/>
                </a:solidFill>
                <a:latin typeface="맑은 고딕"/>
                <a:ea typeface="맑은 고딕"/>
              </a:rPr>
              <a:t>친구가 슬퍼 보이면 왜 그런지 궁금해한다.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0" y="3593592"/>
            <a:ext cx="804672" cy="237744"/>
          </a:xfrm>
          <a:prstGeom prst="roundRect">
            <a:avLst>
              <a:gd name="adj" fmla="val 40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0" y="3593592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0">
                <a:solidFill>
                  <a:srgbClr val="2E1065"/>
                </a:solidFill>
                <a:latin typeface="맑은 고딕"/>
                <a:ea typeface="맑은 고딕"/>
              </a:rPr>
              <a:t>1 · 전혀 아니다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65592" y="3593592"/>
            <a:ext cx="804672" cy="237744"/>
          </a:xfrm>
          <a:prstGeom prst="roundRect">
            <a:avLst>
              <a:gd name="adj" fmla="val 40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65592" y="3593592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0">
                <a:solidFill>
                  <a:srgbClr val="2E1065"/>
                </a:solidFill>
                <a:latin typeface="맑은 고딕"/>
                <a:ea typeface="맑은 고딕"/>
              </a:rPr>
              <a:t>2 · 아니다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15984" y="3593592"/>
            <a:ext cx="804672" cy="237744"/>
          </a:xfrm>
          <a:prstGeom prst="roundRect">
            <a:avLst>
              <a:gd name="adj" fmla="val 40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15984" y="3593592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0">
                <a:solidFill>
                  <a:srgbClr val="2E1065"/>
                </a:solidFill>
                <a:latin typeface="맑은 고딕"/>
                <a:ea typeface="맑은 고딕"/>
              </a:rPr>
              <a:t>3 · 그렇다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866376" y="3593592"/>
            <a:ext cx="804672" cy="237744"/>
          </a:xfrm>
          <a:prstGeom prst="roundRect">
            <a:avLst>
              <a:gd name="adj" fmla="val 40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66376" y="3593592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0">
                <a:solidFill>
                  <a:srgbClr val="2E1065"/>
                </a:solidFill>
                <a:latin typeface="맑은 고딕"/>
                <a:ea typeface="맑은 고딕"/>
              </a:rPr>
              <a:t>4 · 매우 그렇다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03720" y="3986784"/>
            <a:ext cx="292608" cy="292608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03720" y="3986784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Q2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0" y="3968496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00" b="0">
                <a:solidFill>
                  <a:srgbClr val="1E1B4B"/>
                </a:solidFill>
                <a:latin typeface="맑은 고딕"/>
                <a:ea typeface="맑은 고딕"/>
              </a:rPr>
              <a:t>다른 사람의 입장에서 생각해 보려 한다.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0" y="4306824"/>
            <a:ext cx="804672" cy="237744"/>
          </a:xfrm>
          <a:prstGeom prst="roundRect">
            <a:avLst>
              <a:gd name="adj" fmla="val 40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0" y="4306824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0">
                <a:solidFill>
                  <a:srgbClr val="2E1065"/>
                </a:solidFill>
                <a:latin typeface="맑은 고딕"/>
                <a:ea typeface="맑은 고딕"/>
              </a:rPr>
              <a:t>1 · 전혀 아니다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65592" y="4306824"/>
            <a:ext cx="804672" cy="237744"/>
          </a:xfrm>
          <a:prstGeom prst="roundRect">
            <a:avLst>
              <a:gd name="adj" fmla="val 40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65592" y="4306824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0">
                <a:solidFill>
                  <a:srgbClr val="2E1065"/>
                </a:solidFill>
                <a:latin typeface="맑은 고딕"/>
                <a:ea typeface="맑은 고딕"/>
              </a:rPr>
              <a:t>2 · 아니다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015984" y="4306824"/>
            <a:ext cx="804672" cy="237744"/>
          </a:xfrm>
          <a:prstGeom prst="roundRect">
            <a:avLst>
              <a:gd name="adj" fmla="val 40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15984" y="4306824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0">
                <a:solidFill>
                  <a:srgbClr val="2E1065"/>
                </a:solidFill>
                <a:latin typeface="맑은 고딕"/>
                <a:ea typeface="맑은 고딕"/>
              </a:rPr>
              <a:t>3 · 그렇다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866376" y="4306824"/>
            <a:ext cx="804672" cy="237744"/>
          </a:xfrm>
          <a:prstGeom prst="roundRect">
            <a:avLst>
              <a:gd name="adj" fmla="val 40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866376" y="4306824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0">
                <a:solidFill>
                  <a:srgbClr val="2E1065"/>
                </a:solidFill>
                <a:latin typeface="맑은 고딕"/>
                <a:ea typeface="맑은 고딕"/>
              </a:rPr>
              <a:t>4 · 매우 그렇다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903720" y="4700016"/>
            <a:ext cx="292608" cy="292608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03720" y="4700016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Q3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0" y="4681728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00" b="0">
                <a:solidFill>
                  <a:srgbClr val="1E1B4B"/>
                </a:solidFill>
                <a:latin typeface="맑은 고딕"/>
                <a:ea typeface="맑은 고딕"/>
              </a:rPr>
              <a:t>학교나 동네에서 도움이 필요한 일을 보면 돕고 싶어한다.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15200" y="5020056"/>
            <a:ext cx="804672" cy="237744"/>
          </a:xfrm>
          <a:prstGeom prst="roundRect">
            <a:avLst>
              <a:gd name="adj" fmla="val 40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15200" y="5020056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0">
                <a:solidFill>
                  <a:srgbClr val="2E1065"/>
                </a:solidFill>
                <a:latin typeface="맑은 고딕"/>
                <a:ea typeface="맑은 고딕"/>
              </a:rPr>
              <a:t>1 · 전혀 아니다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165592" y="5020056"/>
            <a:ext cx="804672" cy="237744"/>
          </a:xfrm>
          <a:prstGeom prst="roundRect">
            <a:avLst>
              <a:gd name="adj" fmla="val 40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165592" y="5020056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0">
                <a:solidFill>
                  <a:srgbClr val="2E1065"/>
                </a:solidFill>
                <a:latin typeface="맑은 고딕"/>
                <a:ea typeface="맑은 고딕"/>
              </a:rPr>
              <a:t>2 · 아니다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015984" y="5020056"/>
            <a:ext cx="804672" cy="237744"/>
          </a:xfrm>
          <a:prstGeom prst="roundRect">
            <a:avLst>
              <a:gd name="adj" fmla="val 40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015984" y="5020056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0">
                <a:solidFill>
                  <a:srgbClr val="2E1065"/>
                </a:solidFill>
                <a:latin typeface="맑은 고딕"/>
                <a:ea typeface="맑은 고딕"/>
              </a:rPr>
              <a:t>3 · 그렇다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866376" y="5020056"/>
            <a:ext cx="804672" cy="237744"/>
          </a:xfrm>
          <a:prstGeom prst="roundRect">
            <a:avLst>
              <a:gd name="adj" fmla="val 40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866376" y="5020056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0">
                <a:solidFill>
                  <a:srgbClr val="2E1065"/>
                </a:solidFill>
                <a:latin typeface="맑은 고딕"/>
                <a:ea typeface="맑은 고딕"/>
              </a:rPr>
              <a:t>4 · 매우 그렇다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903720" y="5504688"/>
            <a:ext cx="4800600" cy="804672"/>
          </a:xfrm>
          <a:prstGeom prst="roundRect">
            <a:avLst>
              <a:gd name="adj" fmla="val 4000"/>
            </a:avLst>
          </a:prstGeom>
          <a:solidFill>
            <a:srgbClr val="2E1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104888" y="5577840"/>
            <a:ext cx="43982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F59E0B"/>
                </a:solidFill>
                <a:latin typeface="맑은 고딕"/>
                <a:ea typeface="맑은 고딕"/>
              </a:rPr>
              <a:t>수행·상황형 평가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104888" y="5833872"/>
            <a:ext cx="439826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맑은 고딕"/>
                <a:ea typeface="맑은 고딕"/>
              </a:rPr>
              <a:t>상황형 · ‘쉬는 시간에 혼자 있는 친구를 보았다. 너의 마음과 행동은?’ (서술 + 정서 선택)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  <a:ea typeface="맑은 고딕"/>
              </a:rPr>
              <a:t>초등 3~4학년 핵심 역량 진단시스템 개발 기획서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  <a:ea typeface="맑은 고딕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1645920" cy="310896"/>
          </a:xfrm>
          <a:prstGeom prst="roundRect">
            <a:avLst>
              <a:gd name="adj" fmla="val 4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5B21B6"/>
                </a:solidFill>
                <a:latin typeface="맑은 고딕"/>
                <a:ea typeface="맑은 고딕"/>
              </a:rPr>
              <a:t>PART 02  역량 프레임워크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800" b="1">
                <a:solidFill>
                  <a:srgbClr val="1E1B4B"/>
                </a:solidFill>
                <a:latin typeface="맑은 고딕"/>
                <a:ea typeface="맑은 고딕"/>
              </a:rPr>
              <a:t>창의적 표현력  ·  CR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11155680" cy="127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828800"/>
            <a:ext cx="1005840" cy="10058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</a:rPr>
              <a:t>CR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9202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1">
                <a:solidFill>
                  <a:srgbClr val="F59E0B"/>
                </a:solidFill>
                <a:latin typeface="맑은 고딕"/>
                <a:ea typeface="맑은 고딕"/>
              </a:rPr>
              <a:t>조작적 정의 (Operational Definition)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240280"/>
            <a:ext cx="4754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250" b="0">
                <a:solidFill>
                  <a:srgbClr val="1E1B4B"/>
                </a:solidFill>
                <a:latin typeface="맑은 고딕"/>
                <a:ea typeface="맑은 고딕"/>
              </a:rPr>
              <a:t>다양한 도구·매체를 활용해 자신의 경험·생각·감정을 독창적인 방식으로 구성·표현하는 능력.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66160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1">
                <a:solidFill>
                  <a:srgbClr val="2E1065"/>
                </a:solidFill>
                <a:latin typeface="맑은 고딕"/>
                <a:ea typeface="맑은 고딕"/>
              </a:rPr>
              <a:t>하위 구인 (Sub-constructs)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31920"/>
            <a:ext cx="3017520" cy="105156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4059936"/>
            <a:ext cx="261518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2E1065"/>
                </a:solidFill>
                <a:latin typeface="맑은 고딕"/>
                <a:ea typeface="맑은 고딕"/>
              </a:rPr>
              <a:t>유창성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370832"/>
            <a:ext cx="26151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000" b="0">
                <a:solidFill>
                  <a:srgbClr val="4B5563"/>
                </a:solidFill>
                <a:latin typeface="맑은 고딕"/>
                <a:ea typeface="맑은 고딕"/>
              </a:rPr>
              <a:t>아이디어의 양과 흐름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75888" y="3931920"/>
            <a:ext cx="3017520" cy="105156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77056" y="4059936"/>
            <a:ext cx="261518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2E1065"/>
                </a:solidFill>
                <a:latin typeface="맑은 고딕"/>
                <a:ea typeface="맑은 고딕"/>
              </a:rPr>
              <a:t>융통성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77056" y="4370832"/>
            <a:ext cx="26151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000" b="0">
                <a:solidFill>
                  <a:srgbClr val="4B5563"/>
                </a:solidFill>
                <a:latin typeface="맑은 고딕"/>
                <a:ea typeface="맑은 고딕"/>
              </a:rPr>
              <a:t>범주를 넘나드는 아이디어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093208"/>
            <a:ext cx="3017520" cy="105156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5221224"/>
            <a:ext cx="261518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2E1065"/>
                </a:solidFill>
                <a:latin typeface="맑은 고딕"/>
                <a:ea typeface="맑은 고딕"/>
              </a:rPr>
              <a:t>독창성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5532120"/>
            <a:ext cx="26151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000" b="0">
                <a:solidFill>
                  <a:srgbClr val="4B5563"/>
                </a:solidFill>
                <a:latin typeface="맑은 고딕"/>
                <a:ea typeface="맑은 고딕"/>
              </a:rPr>
              <a:t>남과 다른 새로운 아이디어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75888" y="5093208"/>
            <a:ext cx="3017520" cy="105156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77056" y="5221224"/>
            <a:ext cx="261518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2E1065"/>
                </a:solidFill>
                <a:latin typeface="맑은 고딕"/>
                <a:ea typeface="맑은 고딕"/>
              </a:rPr>
              <a:t>정교성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77056" y="5532120"/>
            <a:ext cx="26151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000" b="0">
                <a:solidFill>
                  <a:srgbClr val="4B5563"/>
                </a:solidFill>
                <a:latin typeface="맑은 고딕"/>
                <a:ea typeface="맑은 고딕"/>
              </a:rPr>
              <a:t>아이디어를 구체·세밀화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03720" y="1645920"/>
            <a:ext cx="4800600" cy="1170432"/>
          </a:xfrm>
          <a:prstGeom prst="roundRect">
            <a:avLst>
              <a:gd name="adj" fmla="val 4000"/>
            </a:avLst>
          </a:prstGeom>
          <a:solidFill>
            <a:srgbClr val="FAF9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04888" y="1719072"/>
            <a:ext cx="43982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F59E0B"/>
                </a:solidFill>
                <a:latin typeface="맑은 고딕"/>
                <a:ea typeface="맑은 고딕"/>
              </a:rPr>
              <a:t>이론적 근거 · 준거 척도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04888" y="1993392"/>
            <a:ext cx="439826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1050" b="0">
                <a:solidFill>
                  <a:srgbClr val="4B5563"/>
                </a:solidFill>
                <a:latin typeface="맑은 고딕"/>
                <a:ea typeface="맑은 고딕"/>
              </a:rPr>
              <a:t>이론적 근거 · Torrance 창의성 4요소(TTCT), Amabile 창의성 3요소(전문성·창의적 사고·동기). 준거 척도 · K-TTCT Figural Form 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2926080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1">
                <a:solidFill>
                  <a:srgbClr val="2E1065"/>
                </a:solidFill>
                <a:latin typeface="맑은 고딕"/>
                <a:ea typeface="맑은 고딕"/>
              </a:rPr>
              <a:t>예시 문항 (자기보고 · 4점 Likert)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03720" y="3273552"/>
            <a:ext cx="292608" cy="2926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03720" y="3273552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Q1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3255264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00" b="0">
                <a:solidFill>
                  <a:srgbClr val="1E1B4B"/>
                </a:solidFill>
                <a:latin typeface="맑은 고딕"/>
                <a:ea typeface="맑은 고딕"/>
              </a:rPr>
              <a:t>같은 재료로 여러 가지를 만들어 보는 것을 좋아한다.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0" y="3593592"/>
            <a:ext cx="804672" cy="237744"/>
          </a:xfrm>
          <a:prstGeom prst="roundRect">
            <a:avLst>
              <a:gd name="adj" fmla="val 40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0" y="3593592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0">
                <a:solidFill>
                  <a:srgbClr val="2E1065"/>
                </a:solidFill>
                <a:latin typeface="맑은 고딕"/>
                <a:ea typeface="맑은 고딕"/>
              </a:rPr>
              <a:t>1 · 전혀 아니다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65592" y="3593592"/>
            <a:ext cx="804672" cy="237744"/>
          </a:xfrm>
          <a:prstGeom prst="roundRect">
            <a:avLst>
              <a:gd name="adj" fmla="val 40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65592" y="3593592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0">
                <a:solidFill>
                  <a:srgbClr val="2E1065"/>
                </a:solidFill>
                <a:latin typeface="맑은 고딕"/>
                <a:ea typeface="맑은 고딕"/>
              </a:rPr>
              <a:t>2 · 아니다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15984" y="3593592"/>
            <a:ext cx="804672" cy="237744"/>
          </a:xfrm>
          <a:prstGeom prst="roundRect">
            <a:avLst>
              <a:gd name="adj" fmla="val 40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15984" y="3593592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0">
                <a:solidFill>
                  <a:srgbClr val="2E1065"/>
                </a:solidFill>
                <a:latin typeface="맑은 고딕"/>
                <a:ea typeface="맑은 고딕"/>
              </a:rPr>
              <a:t>3 · 그렇다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866376" y="3593592"/>
            <a:ext cx="804672" cy="237744"/>
          </a:xfrm>
          <a:prstGeom prst="roundRect">
            <a:avLst>
              <a:gd name="adj" fmla="val 40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66376" y="3593592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0">
                <a:solidFill>
                  <a:srgbClr val="2E1065"/>
                </a:solidFill>
                <a:latin typeface="맑은 고딕"/>
                <a:ea typeface="맑은 고딕"/>
              </a:rPr>
              <a:t>4 · 매우 그렇다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03720" y="3986784"/>
            <a:ext cx="292608" cy="2926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03720" y="3986784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Q2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0" y="3968496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00" b="0">
                <a:solidFill>
                  <a:srgbClr val="1E1B4B"/>
                </a:solidFill>
                <a:latin typeface="맑은 고딕"/>
                <a:ea typeface="맑은 고딕"/>
              </a:rPr>
              <a:t>내 생각을 그림·글·몸짓 등 여러 방법으로 표현한다.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0" y="4306824"/>
            <a:ext cx="804672" cy="237744"/>
          </a:xfrm>
          <a:prstGeom prst="roundRect">
            <a:avLst>
              <a:gd name="adj" fmla="val 40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0" y="4306824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0">
                <a:solidFill>
                  <a:srgbClr val="2E1065"/>
                </a:solidFill>
                <a:latin typeface="맑은 고딕"/>
                <a:ea typeface="맑은 고딕"/>
              </a:rPr>
              <a:t>1 · 전혀 아니다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65592" y="4306824"/>
            <a:ext cx="804672" cy="237744"/>
          </a:xfrm>
          <a:prstGeom prst="roundRect">
            <a:avLst>
              <a:gd name="adj" fmla="val 40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65592" y="4306824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0">
                <a:solidFill>
                  <a:srgbClr val="2E1065"/>
                </a:solidFill>
                <a:latin typeface="맑은 고딕"/>
                <a:ea typeface="맑은 고딕"/>
              </a:rPr>
              <a:t>2 · 아니다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015984" y="4306824"/>
            <a:ext cx="804672" cy="237744"/>
          </a:xfrm>
          <a:prstGeom prst="roundRect">
            <a:avLst>
              <a:gd name="adj" fmla="val 40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15984" y="4306824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0">
                <a:solidFill>
                  <a:srgbClr val="2E1065"/>
                </a:solidFill>
                <a:latin typeface="맑은 고딕"/>
                <a:ea typeface="맑은 고딕"/>
              </a:rPr>
              <a:t>3 · 그렇다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866376" y="4306824"/>
            <a:ext cx="804672" cy="237744"/>
          </a:xfrm>
          <a:prstGeom prst="roundRect">
            <a:avLst>
              <a:gd name="adj" fmla="val 40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866376" y="4306824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0">
                <a:solidFill>
                  <a:srgbClr val="2E1065"/>
                </a:solidFill>
                <a:latin typeface="맑은 고딕"/>
                <a:ea typeface="맑은 고딕"/>
              </a:rPr>
              <a:t>4 · 매우 그렇다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903720" y="4700016"/>
            <a:ext cx="292608" cy="2926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03720" y="4700016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Q3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0" y="4681728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00" b="0">
                <a:solidFill>
                  <a:srgbClr val="1E1B4B"/>
                </a:solidFill>
                <a:latin typeface="맑은 고딕"/>
                <a:ea typeface="맑은 고딕"/>
              </a:rPr>
              <a:t>다른 친구와 다른 방식으로 문제를 풀어본 적이 있다.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15200" y="5020056"/>
            <a:ext cx="804672" cy="237744"/>
          </a:xfrm>
          <a:prstGeom prst="roundRect">
            <a:avLst>
              <a:gd name="adj" fmla="val 40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15200" y="5020056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0">
                <a:solidFill>
                  <a:srgbClr val="2E1065"/>
                </a:solidFill>
                <a:latin typeface="맑은 고딕"/>
                <a:ea typeface="맑은 고딕"/>
              </a:rPr>
              <a:t>1 · 전혀 아니다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165592" y="5020056"/>
            <a:ext cx="804672" cy="237744"/>
          </a:xfrm>
          <a:prstGeom prst="roundRect">
            <a:avLst>
              <a:gd name="adj" fmla="val 40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165592" y="5020056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0">
                <a:solidFill>
                  <a:srgbClr val="2E1065"/>
                </a:solidFill>
                <a:latin typeface="맑은 고딕"/>
                <a:ea typeface="맑은 고딕"/>
              </a:rPr>
              <a:t>2 · 아니다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015984" y="5020056"/>
            <a:ext cx="804672" cy="237744"/>
          </a:xfrm>
          <a:prstGeom prst="roundRect">
            <a:avLst>
              <a:gd name="adj" fmla="val 40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015984" y="5020056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0">
                <a:solidFill>
                  <a:srgbClr val="2E1065"/>
                </a:solidFill>
                <a:latin typeface="맑은 고딕"/>
                <a:ea typeface="맑은 고딕"/>
              </a:rPr>
              <a:t>3 · 그렇다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866376" y="5020056"/>
            <a:ext cx="804672" cy="237744"/>
          </a:xfrm>
          <a:prstGeom prst="roundRect">
            <a:avLst>
              <a:gd name="adj" fmla="val 40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866376" y="5020056"/>
            <a:ext cx="8046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0">
                <a:solidFill>
                  <a:srgbClr val="2E1065"/>
                </a:solidFill>
                <a:latin typeface="맑은 고딕"/>
                <a:ea typeface="맑은 고딕"/>
              </a:rPr>
              <a:t>4 · 매우 그렇다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903720" y="5504688"/>
            <a:ext cx="4800600" cy="804672"/>
          </a:xfrm>
          <a:prstGeom prst="roundRect">
            <a:avLst>
              <a:gd name="adj" fmla="val 4000"/>
            </a:avLst>
          </a:prstGeom>
          <a:solidFill>
            <a:srgbClr val="2E1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104888" y="5577840"/>
            <a:ext cx="43982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F59E0B"/>
                </a:solidFill>
                <a:latin typeface="맑은 고딕"/>
                <a:ea typeface="맑은 고딕"/>
              </a:rPr>
              <a:t>수행·상황형 평가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104888" y="5833872"/>
            <a:ext cx="439826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맑은 고딕"/>
                <a:ea typeface="맑은 고딕"/>
              </a:rPr>
              <a:t>수행형 · 도형 1개를 제시하고 10분간 가능한 많은 그림을 완성 (TTCT 축약형 채점).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  <a:ea typeface="맑은 고딕"/>
              </a:rPr>
              <a:t>초등 3~4학년 핵심 역량 진단시스템 개발 기획서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  <a:ea typeface="맑은 고딕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1645920" cy="310896"/>
          </a:xfrm>
          <a:prstGeom prst="roundRect">
            <a:avLst>
              <a:gd name="adj" fmla="val 4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5B21B6"/>
                </a:solidFill>
                <a:latin typeface="맑은 고딕"/>
                <a:ea typeface="맑은 고딕"/>
              </a:rPr>
              <a:t>PART 03  진단 체계 설계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800" b="1">
                <a:solidFill>
                  <a:srgbClr val="1E1B4B"/>
                </a:solidFill>
                <a:latin typeface="맑은 고딕"/>
                <a:ea typeface="맑은 고딕"/>
              </a:rPr>
              <a:t>사전·사후 진단 구조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11155680" cy="127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</a:rPr>
              <a:t>동일 학기 내 반복측정 설계(Pretest–Intervention–Posttest)로 발달 변화와 개입 효과를 동시 포착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377440"/>
            <a:ext cx="10972800" cy="73152"/>
          </a:xfrm>
          <a:prstGeom prst="rect">
            <a:avLst/>
          </a:prstGeom>
          <a:solidFill>
            <a:srgbClr val="DDD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11480" y="2221992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22199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T0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457200" y="288036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1E1B4B"/>
                </a:solidFill>
                <a:latin typeface="맑은 고딕"/>
                <a:ea typeface="맑은 고딕"/>
              </a:rPr>
              <a:t>오리엔테이션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-457200" y="317296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7C3AED"/>
                </a:solidFill>
                <a:latin typeface="맑은 고딕"/>
                <a:ea typeface="맑은 고딕"/>
              </a:rPr>
              <a:t>2주차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457200" y="3447288"/>
            <a:ext cx="21945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4B5563"/>
                </a:solidFill>
                <a:latin typeface="맑은 고딕"/>
                <a:ea typeface="맑은 고딕"/>
              </a:rPr>
              <a:t>목적·동의·라포</a:t>
            </a:r>
          </a:p>
        </p:txBody>
      </p:sp>
      <p:sp>
        <p:nvSpPr>
          <p:cNvPr id="14" name="Oval 13"/>
          <p:cNvSpPr/>
          <p:nvPr/>
        </p:nvSpPr>
        <p:spPr>
          <a:xfrm>
            <a:off x="3154680" y="2221992"/>
            <a:ext cx="457200" cy="457200"/>
          </a:xfrm>
          <a:prstGeom prst="ellipse">
            <a:avLst/>
          </a:prstGeom>
          <a:solidFill>
            <a:srgbClr val="2E1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54680" y="222199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T1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288036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1E1B4B"/>
                </a:solidFill>
                <a:latin typeface="맑은 고딕"/>
                <a:ea typeface="맑은 고딕"/>
              </a:rPr>
              <a:t>사전 진단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317296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2E1065"/>
                </a:solidFill>
                <a:latin typeface="맑은 고딕"/>
                <a:ea typeface="맑은 고딕"/>
              </a:rPr>
              <a:t>3주차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3447288"/>
            <a:ext cx="21945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4B5563"/>
                </a:solidFill>
                <a:latin typeface="맑은 고딕"/>
                <a:ea typeface="맑은 고딕"/>
              </a:rPr>
              <a:t>60문항 (자기보고 40·교사관찰 12·수행 8)</a:t>
            </a:r>
          </a:p>
        </p:txBody>
      </p:sp>
      <p:sp>
        <p:nvSpPr>
          <p:cNvPr id="19" name="Oval 18"/>
          <p:cNvSpPr/>
          <p:nvPr/>
        </p:nvSpPr>
        <p:spPr>
          <a:xfrm>
            <a:off x="5897880" y="2221992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97880" y="222199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T2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88036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1E1B4B"/>
                </a:solidFill>
                <a:latin typeface="맑은 고딕"/>
                <a:ea typeface="맑은 고딕"/>
              </a:rPr>
              <a:t>교육·프로그램 운영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17296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F59E0B"/>
                </a:solidFill>
                <a:latin typeface="맑은 고딕"/>
                <a:ea typeface="맑은 고딕"/>
              </a:rPr>
              <a:t>4–14주차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3447288"/>
            <a:ext cx="21945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4B5563"/>
                </a:solidFill>
                <a:latin typeface="맑은 고딕"/>
                <a:ea typeface="맑은 고딕"/>
              </a:rPr>
              <a:t>개입·학습·상담</a:t>
            </a:r>
          </a:p>
        </p:txBody>
      </p:sp>
      <p:sp>
        <p:nvSpPr>
          <p:cNvPr id="24" name="Oval 23"/>
          <p:cNvSpPr/>
          <p:nvPr/>
        </p:nvSpPr>
        <p:spPr>
          <a:xfrm>
            <a:off x="8641080" y="2221992"/>
            <a:ext cx="457200" cy="457200"/>
          </a:xfrm>
          <a:prstGeom prst="ellipse">
            <a:avLst/>
          </a:prstGeom>
          <a:solidFill>
            <a:srgbClr val="2E1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41080" y="222199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T3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288036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1E1B4B"/>
                </a:solidFill>
                <a:latin typeface="맑은 고딕"/>
                <a:ea typeface="맑은 고딕"/>
              </a:rPr>
              <a:t>사후 진단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317296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2E1065"/>
                </a:solidFill>
                <a:latin typeface="맑은 고딕"/>
                <a:ea typeface="맑은 고딕"/>
              </a:rPr>
              <a:t>15주차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447288"/>
            <a:ext cx="21945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4B5563"/>
                </a:solidFill>
                <a:latin typeface="맑은 고딕"/>
                <a:ea typeface="맑은 고딕"/>
              </a:rPr>
              <a:t>동형 60문항 · 전이 문항 포함</a:t>
            </a:r>
          </a:p>
        </p:txBody>
      </p:sp>
      <p:sp>
        <p:nvSpPr>
          <p:cNvPr id="29" name="Oval 28"/>
          <p:cNvSpPr/>
          <p:nvPr/>
        </p:nvSpPr>
        <p:spPr>
          <a:xfrm>
            <a:off x="11384280" y="2221992"/>
            <a:ext cx="457200" cy="45720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384280" y="222199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T4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288036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1E1B4B"/>
                </a:solidFill>
                <a:latin typeface="맑은 고딕"/>
                <a:ea typeface="맑은 고딕"/>
              </a:rPr>
              <a:t>결과 환류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317296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D9488"/>
                </a:solidFill>
                <a:latin typeface="맑은 고딕"/>
                <a:ea typeface="맑은 고딕"/>
              </a:rPr>
              <a:t>16–17주차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3447288"/>
            <a:ext cx="21945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4B5563"/>
                </a:solidFill>
                <a:latin typeface="맑은 고딕"/>
                <a:ea typeface="맑은 고딕"/>
              </a:rPr>
              <a:t>프로파일 피드백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4892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2E1065"/>
                </a:solidFill>
                <a:latin typeface="맑은 고딕"/>
                <a:ea typeface="맑은 고딕"/>
              </a:rPr>
              <a:t>사전·사후 설계 원칙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5303520"/>
            <a:ext cx="2697480" cy="100584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41324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7C3AED"/>
                </a:solidFill>
                <a:latin typeface="맑은 고딕"/>
                <a:ea typeface="맑은 고딕"/>
              </a:rPr>
              <a:t>시간 간격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6692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1">
                <a:solidFill>
                  <a:srgbClr val="1E1B4B"/>
                </a:solidFill>
                <a:latin typeface="맑은 고딕"/>
                <a:ea typeface="맑은 고딕"/>
              </a:rPr>
              <a:t>사전–사후 10~12주 (단일 학기)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9436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4B5563"/>
                </a:solidFill>
                <a:latin typeface="맑은 고딕"/>
                <a:ea typeface="맑은 고딕"/>
              </a:rPr>
              <a:t>기억 편향 통제 + 발달 변화 포착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383280" y="5303520"/>
            <a:ext cx="2697480" cy="100584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66160" y="541324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7C3AED"/>
                </a:solidFill>
                <a:latin typeface="맑은 고딕"/>
                <a:ea typeface="맑은 고딕"/>
              </a:rPr>
              <a:t>문항 동형성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60" y="56692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1">
                <a:solidFill>
                  <a:srgbClr val="1E1B4B"/>
                </a:solidFill>
                <a:latin typeface="맑은 고딕"/>
                <a:ea typeface="맑은 고딕"/>
              </a:rPr>
              <a:t>앵커 문항 70% + 병렬 문항 30%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0" y="59436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4B5563"/>
                </a:solidFill>
                <a:latin typeface="맑은 고딕"/>
                <a:ea typeface="맑은 고딕"/>
              </a:rPr>
              <a:t>반복측정 신뢰도·변화 민감도 균형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17920" y="5303520"/>
            <a:ext cx="2697480" cy="100584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541324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7C3AED"/>
                </a:solidFill>
                <a:latin typeface="맑은 고딕"/>
                <a:ea typeface="맑은 고딕"/>
              </a:rPr>
              <a:t>측정 삼각검증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56692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1">
                <a:solidFill>
                  <a:srgbClr val="1E1B4B"/>
                </a:solidFill>
                <a:latin typeface="맑은 고딕"/>
                <a:ea typeface="맑은 고딕"/>
              </a:rPr>
              <a:t>자기보고 + 교사관찰 + 수행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59436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4B5563"/>
                </a:solidFill>
                <a:latin typeface="맑은 고딕"/>
                <a:ea typeface="맑은 고딕"/>
              </a:rPr>
              <a:t>공통방법편향(CMB) 최소화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052560" y="5303520"/>
            <a:ext cx="2697480" cy="100584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35440" y="541324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7C3AED"/>
                </a:solidFill>
                <a:latin typeface="맑은 고딕"/>
                <a:ea typeface="맑은 고딕"/>
              </a:rPr>
              <a:t>변화 지표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35440" y="56692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1">
                <a:solidFill>
                  <a:srgbClr val="1E1B4B"/>
                </a:solidFill>
                <a:latin typeface="맑은 고딕"/>
                <a:ea typeface="맑은 고딕"/>
              </a:rPr>
              <a:t>RCI · Cohen’s d · 프로파일 유사도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35440" y="59436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4B5563"/>
                </a:solidFill>
                <a:latin typeface="맑은 고딕"/>
                <a:ea typeface="맑은 고딕"/>
              </a:rPr>
              <a:t>통계적·임상적 유의성 이중 평가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  <a:ea typeface="맑은 고딕"/>
              </a:rPr>
              <a:t>초등 3~4학년 핵심 역량 진단시스템 개발 기획서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  <a:ea typeface="맑은 고딕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1645920" cy="310896"/>
          </a:xfrm>
          <a:prstGeom prst="roundRect">
            <a:avLst>
              <a:gd name="adj" fmla="val 4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5B21B6"/>
                </a:solidFill>
                <a:latin typeface="맑은 고딕"/>
                <a:ea typeface="맑은 고딕"/>
              </a:rPr>
              <a:t>PART 03  진단 체계 설계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800" b="1">
                <a:solidFill>
                  <a:srgbClr val="1E1B4B"/>
                </a:solidFill>
                <a:latin typeface="맑은 고딕"/>
                <a:ea typeface="맑은 고딕"/>
              </a:rPr>
              <a:t>문항 구성 및 측정 원리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11155680" cy="127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2E1065"/>
                </a:solidFill>
                <a:latin typeface="맑은 고딕"/>
                <a:ea typeface="맑은 고딕"/>
              </a:rPr>
              <a:t>다중 정보원 삼각검증 (Source Triangulation)</a:t>
            </a:r>
          </a:p>
        </p:txBody>
      </p:sp>
      <p:sp>
        <p:nvSpPr>
          <p:cNvPr id="8" name="Oval 7"/>
          <p:cNvSpPr/>
          <p:nvPr/>
        </p:nvSpPr>
        <p:spPr>
          <a:xfrm>
            <a:off x="2194560" y="2377440"/>
            <a:ext cx="2103120" cy="1554480"/>
          </a:xfrm>
          <a:prstGeom prst="ellipse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0" y="2542032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자기보고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29260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맑은 고딕"/>
                <a:ea typeface="맑은 고딕"/>
              </a:rPr>
              <a:t>Likert 4점 · 40문항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329184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맑은 고딕"/>
                <a:ea typeface="맑은 고딕"/>
              </a:rPr>
              <a:t>아동 내적 지각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663440"/>
            <a:ext cx="2103120" cy="155448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828032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교사관찰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2120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맑은 고딕"/>
                <a:ea typeface="맑은 고딕"/>
              </a:rPr>
              <a:t>루브릭 3점 · 12문항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57784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맑은 고딕"/>
                <a:ea typeface="맑은 고딕"/>
              </a:rPr>
              <a:t>맥락 관찰 데이터</a:t>
            </a:r>
          </a:p>
        </p:txBody>
      </p:sp>
      <p:sp>
        <p:nvSpPr>
          <p:cNvPr id="16" name="Oval 15"/>
          <p:cNvSpPr/>
          <p:nvPr/>
        </p:nvSpPr>
        <p:spPr>
          <a:xfrm>
            <a:off x="3840480" y="4663440"/>
            <a:ext cx="2103120" cy="15544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0" y="4828032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수행·상황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52120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맑은 고딕"/>
                <a:ea typeface="맑은 고딕"/>
              </a:rPr>
              <a:t>개방형·선택형 · 8문항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557784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맑은 고딕"/>
                <a:ea typeface="맑은 고딕"/>
              </a:rPr>
              <a:t>행동 증거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16459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2E1065"/>
                </a:solidFill>
                <a:latin typeface="맑은 고딕"/>
                <a:ea typeface="맑은 고딕"/>
              </a:rPr>
              <a:t>문항 설계 원칙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66560" y="2057400"/>
            <a:ext cx="4937760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66560" y="2057400"/>
            <a:ext cx="73152" cy="713232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2157984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7C3AED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213055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1E1B4B"/>
                </a:solidFill>
                <a:latin typeface="맑은 고딕"/>
                <a:ea typeface="맑은 고딕"/>
              </a:rPr>
              <a:t>발달 연령 친화성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2386584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950" b="0">
                <a:solidFill>
                  <a:srgbClr val="4B5563"/>
                </a:solidFill>
                <a:latin typeface="맑은 고딕"/>
                <a:ea typeface="맑은 고딕"/>
              </a:rPr>
              <a:t>초등 3학년 평균 어휘 수준 (국가어휘표 기준 중·하) · 문장 길이 ≤ 18음절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66560" y="2843784"/>
            <a:ext cx="4937760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66560" y="2843784"/>
            <a:ext cx="73152" cy="713232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67728" y="294436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7C3AED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2916936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1E1B4B"/>
                </a:solidFill>
                <a:latin typeface="맑은 고딕"/>
                <a:ea typeface="맑은 고딕"/>
              </a:rPr>
              <a:t>4점 강제선택 Likert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3172968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950" b="0">
                <a:solidFill>
                  <a:srgbClr val="4B5563"/>
                </a:solidFill>
                <a:latin typeface="맑은 고딕"/>
                <a:ea typeface="맑은 고딕"/>
              </a:rPr>
              <a:t>중앙응답편향(central tendency bias) 통제 — ‘보통이다’ 옵션 제외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766560" y="3630168"/>
            <a:ext cx="4937760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766560" y="3630168"/>
            <a:ext cx="73152" cy="713232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67728" y="373075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7C3AED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370332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1E1B4B"/>
                </a:solidFill>
                <a:latin typeface="맑은 고딕"/>
                <a:ea typeface="맑은 고딕"/>
              </a:rPr>
              <a:t>역문항 20% 삽입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3959352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950" b="0">
                <a:solidFill>
                  <a:srgbClr val="4B5563"/>
                </a:solidFill>
                <a:latin typeface="맑은 고딕"/>
                <a:ea typeface="맑은 고딕"/>
              </a:rPr>
              <a:t>묵종편향(acquiescence)·반응경향성 탐지 및 성실도 지표 산출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766560" y="4416552"/>
            <a:ext cx="4937760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766560" y="4416552"/>
            <a:ext cx="73152" cy="713232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67728" y="451713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7C3AED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06640" y="4489704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1E1B4B"/>
                </a:solidFill>
                <a:latin typeface="맑은 고딕"/>
                <a:ea typeface="맑은 고딕"/>
              </a:rPr>
              <a:t>행동·빈도 기반 기술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06640" y="4745736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950" b="0">
                <a:solidFill>
                  <a:srgbClr val="4B5563"/>
                </a:solidFill>
                <a:latin typeface="맑은 고딕"/>
                <a:ea typeface="맑은 고딕"/>
              </a:rPr>
              <a:t>‘나는 ~하는 편이다’보다 ‘최근 2주간 나는 ~하였다’로 기술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766560" y="5202936"/>
            <a:ext cx="4937760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766560" y="5202936"/>
            <a:ext cx="73152" cy="713232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67728" y="5303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7C3AED"/>
                </a:solidFill>
                <a:latin typeface="맑은 고딕"/>
                <a:ea typeface="맑은 고딕"/>
              </a:rPr>
              <a:t>05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06640" y="527608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1E1B4B"/>
                </a:solidFill>
                <a:latin typeface="맑은 고딕"/>
                <a:ea typeface="맑은 고딕"/>
              </a:rPr>
              <a:t>문화·맥락 검토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06640" y="553212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950" b="0">
                <a:solidFill>
                  <a:srgbClr val="4B5563"/>
                </a:solidFill>
                <a:latin typeface="맑은 고딕"/>
                <a:ea typeface="맑은 고딕"/>
              </a:rPr>
              <a:t>학급·또래 용어 친숙도 예비조사 → 초등 교사 2인 리뷰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766560" y="5989320"/>
            <a:ext cx="4937760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766560" y="5989320"/>
            <a:ext cx="73152" cy="713232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67728" y="6089904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7C3AED"/>
                </a:solidFill>
                <a:latin typeface="맑은 고딕"/>
                <a:ea typeface="맑은 고딕"/>
              </a:rPr>
              <a:t>06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06640" y="606247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1E1B4B"/>
                </a:solidFill>
                <a:latin typeface="맑은 고딕"/>
                <a:ea typeface="맑은 고딕"/>
              </a:rPr>
              <a:t>성실응답 지표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06640" y="6318504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950" b="0">
                <a:solidFill>
                  <a:srgbClr val="4B5563"/>
                </a:solidFill>
                <a:latin typeface="맑은 고딕"/>
                <a:ea typeface="맑은 고딕"/>
              </a:rPr>
              <a:t>일관성 문항쌍 3쌍 + 반응시간 기록 → 신뢰 프로파일 산출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  <a:ea typeface="맑은 고딕"/>
              </a:rPr>
              <a:t>초등 3~4학년 핵심 역량 진단시스템 개발 기획서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  <a:ea typeface="맑은 고딕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1645920" cy="310896"/>
          </a:xfrm>
          <a:prstGeom prst="roundRect">
            <a:avLst>
              <a:gd name="adj" fmla="val 4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5B21B6"/>
                </a:solidFill>
                <a:latin typeface="맑은 고딕"/>
                <a:ea typeface="맑은 고딕"/>
              </a:rPr>
              <a:t>PART 03  진단 체계 설계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800" b="1">
                <a:solidFill>
                  <a:srgbClr val="1E1B4B"/>
                </a:solidFill>
                <a:latin typeface="맑은 고딕"/>
                <a:ea typeface="맑은 고딕"/>
              </a:rPr>
              <a:t>신뢰도·타당도 검증 계획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11155680" cy="127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</a:rPr>
              <a:t>4단계 심리측정학적 검증으로 임상적 해석 가능성 확보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40280"/>
            <a:ext cx="2724912" cy="374903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240280"/>
            <a:ext cx="2724912" cy="594360"/>
          </a:xfrm>
          <a:prstGeom prst="rect">
            <a:avLst/>
          </a:prstGeom>
          <a:solidFill>
            <a:srgbClr val="2E1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22402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STEP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49631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내용 타당도</a:t>
            </a:r>
          </a:p>
        </p:txBody>
      </p:sp>
      <p:sp>
        <p:nvSpPr>
          <p:cNvPr id="12" name="Oval 11"/>
          <p:cNvSpPr/>
          <p:nvPr/>
        </p:nvSpPr>
        <p:spPr>
          <a:xfrm>
            <a:off x="786384" y="3127248"/>
            <a:ext cx="73152" cy="73152"/>
          </a:xfrm>
          <a:prstGeom prst="ellipse">
            <a:avLst/>
          </a:prstGeom>
          <a:solidFill>
            <a:srgbClr val="2E1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3017520"/>
            <a:ext cx="208483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1050" b="0">
                <a:solidFill>
                  <a:srgbClr val="1E1B4B"/>
                </a:solidFill>
                <a:latin typeface="맑은 고딕"/>
                <a:ea typeface="맑은 고딕"/>
              </a:rPr>
              <a:t>발달심리·아동임상 전문가 7인 델파이</a:t>
            </a:r>
          </a:p>
        </p:txBody>
      </p:sp>
      <p:sp>
        <p:nvSpPr>
          <p:cNvPr id="14" name="Oval 13"/>
          <p:cNvSpPr/>
          <p:nvPr/>
        </p:nvSpPr>
        <p:spPr>
          <a:xfrm>
            <a:off x="786384" y="4023360"/>
            <a:ext cx="73152" cy="73152"/>
          </a:xfrm>
          <a:prstGeom prst="ellipse">
            <a:avLst/>
          </a:prstGeom>
          <a:solidFill>
            <a:srgbClr val="2E1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3913632"/>
            <a:ext cx="208483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1050" b="0">
                <a:solidFill>
                  <a:srgbClr val="1E1B4B"/>
                </a:solidFill>
                <a:latin typeface="맑은 고딕"/>
                <a:ea typeface="맑은 고딕"/>
              </a:rPr>
              <a:t>CVI ≥ .80 · Kappa ≥ .60 기준 문항 선별</a:t>
            </a:r>
          </a:p>
        </p:txBody>
      </p:sp>
      <p:sp>
        <p:nvSpPr>
          <p:cNvPr id="16" name="Oval 15"/>
          <p:cNvSpPr/>
          <p:nvPr/>
        </p:nvSpPr>
        <p:spPr>
          <a:xfrm>
            <a:off x="786384" y="4919472"/>
            <a:ext cx="73152" cy="73152"/>
          </a:xfrm>
          <a:prstGeom prst="ellipse">
            <a:avLst/>
          </a:prstGeom>
          <a:solidFill>
            <a:srgbClr val="2E1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809744"/>
            <a:ext cx="208483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1050" b="0">
                <a:solidFill>
                  <a:srgbClr val="1E1B4B"/>
                </a:solidFill>
                <a:latin typeface="맑은 고딕"/>
                <a:ea typeface="맑은 고딕"/>
              </a:rPr>
              <a:t>초등 교사 2인 표현 감수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29000" y="2240280"/>
            <a:ext cx="2724912" cy="374903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29000" y="2240280"/>
            <a:ext cx="2724912" cy="59436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48456" y="22402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STEP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48456" y="249631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구인 타당도</a:t>
            </a:r>
          </a:p>
        </p:txBody>
      </p:sp>
      <p:sp>
        <p:nvSpPr>
          <p:cNvPr id="22" name="Oval 21"/>
          <p:cNvSpPr/>
          <p:nvPr/>
        </p:nvSpPr>
        <p:spPr>
          <a:xfrm>
            <a:off x="3666744" y="3127248"/>
            <a:ext cx="73152" cy="73152"/>
          </a:xfrm>
          <a:prstGeom prst="ellipse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9624" y="3017520"/>
            <a:ext cx="208483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1050" b="0">
                <a:solidFill>
                  <a:srgbClr val="1E1B4B"/>
                </a:solidFill>
                <a:latin typeface="맑은 고딕"/>
                <a:ea typeface="맑은 고딕"/>
              </a:rPr>
              <a:t>예비조사 N=300 → 탐색적 요인분석 (EFA)</a:t>
            </a:r>
          </a:p>
        </p:txBody>
      </p:sp>
      <p:sp>
        <p:nvSpPr>
          <p:cNvPr id="24" name="Oval 23"/>
          <p:cNvSpPr/>
          <p:nvPr/>
        </p:nvSpPr>
        <p:spPr>
          <a:xfrm>
            <a:off x="3666744" y="4023360"/>
            <a:ext cx="73152" cy="73152"/>
          </a:xfrm>
          <a:prstGeom prst="ellipse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9624" y="3913632"/>
            <a:ext cx="208483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1050" b="0">
                <a:solidFill>
                  <a:srgbClr val="1E1B4B"/>
                </a:solidFill>
                <a:latin typeface="맑은 고딕"/>
                <a:ea typeface="맑은 고딕"/>
              </a:rPr>
              <a:t>본조사 N=1,200 → 확인적 요인분석 (CFA)</a:t>
            </a:r>
          </a:p>
        </p:txBody>
      </p:sp>
      <p:sp>
        <p:nvSpPr>
          <p:cNvPr id="26" name="Oval 25"/>
          <p:cNvSpPr/>
          <p:nvPr/>
        </p:nvSpPr>
        <p:spPr>
          <a:xfrm>
            <a:off x="3666744" y="4919472"/>
            <a:ext cx="73152" cy="73152"/>
          </a:xfrm>
          <a:prstGeom prst="ellipse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9624" y="4809744"/>
            <a:ext cx="208483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1050" b="0">
                <a:solidFill>
                  <a:srgbClr val="1E1B4B"/>
                </a:solidFill>
                <a:latin typeface="맑은 고딕"/>
                <a:ea typeface="맑은 고딕"/>
              </a:rPr>
              <a:t>적합도 기준 : χ²/df&lt;3, CFI&gt;.90, RMSEA&lt;.08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2240280"/>
            <a:ext cx="2724912" cy="374903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60" y="2240280"/>
            <a:ext cx="2724912" cy="5943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28816" y="22402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STEP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8816" y="249631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수렴·변별 타당도</a:t>
            </a:r>
          </a:p>
        </p:txBody>
      </p:sp>
      <p:sp>
        <p:nvSpPr>
          <p:cNvPr id="32" name="Oval 31"/>
          <p:cNvSpPr/>
          <p:nvPr/>
        </p:nvSpPr>
        <p:spPr>
          <a:xfrm>
            <a:off x="6547104" y="3127248"/>
            <a:ext cx="73152" cy="731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29984" y="3017520"/>
            <a:ext cx="208483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1050" b="0">
                <a:solidFill>
                  <a:srgbClr val="1E1B4B"/>
                </a:solidFill>
                <a:latin typeface="맑은 고딕"/>
                <a:ea typeface="맑은 고딕"/>
              </a:rPr>
              <a:t>준거 척도 상관 : CYRM-12, IRI-C, MSLQ, K-TTCT</a:t>
            </a:r>
          </a:p>
        </p:txBody>
      </p:sp>
      <p:sp>
        <p:nvSpPr>
          <p:cNvPr id="34" name="Oval 33"/>
          <p:cNvSpPr/>
          <p:nvPr/>
        </p:nvSpPr>
        <p:spPr>
          <a:xfrm>
            <a:off x="6547104" y="4023360"/>
            <a:ext cx="73152" cy="731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29984" y="3913632"/>
            <a:ext cx="208483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1050" b="0">
                <a:solidFill>
                  <a:srgbClr val="1E1B4B"/>
                </a:solidFill>
                <a:latin typeface="맑은 고딕"/>
                <a:ea typeface="맑은 고딕"/>
              </a:rPr>
              <a:t>수렴 r ≥ .50 · 변별 r ≤ .30 기준</a:t>
            </a:r>
          </a:p>
        </p:txBody>
      </p:sp>
      <p:sp>
        <p:nvSpPr>
          <p:cNvPr id="36" name="Oval 35"/>
          <p:cNvSpPr/>
          <p:nvPr/>
        </p:nvSpPr>
        <p:spPr>
          <a:xfrm>
            <a:off x="6547104" y="4919472"/>
            <a:ext cx="73152" cy="731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29984" y="4809744"/>
            <a:ext cx="208483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1050" b="0">
                <a:solidFill>
                  <a:srgbClr val="1E1B4B"/>
                </a:solidFill>
                <a:latin typeface="맑은 고딕"/>
                <a:ea typeface="맑은 고딕"/>
              </a:rPr>
              <a:t>HTMT &lt; .85 이중 확인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89720" y="2240280"/>
            <a:ext cx="2724912" cy="374903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189720" y="2240280"/>
            <a:ext cx="2724912" cy="5943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09176" y="22402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STEP 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09176" y="249631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신뢰도·변화 민감도</a:t>
            </a:r>
          </a:p>
        </p:txBody>
      </p:sp>
      <p:sp>
        <p:nvSpPr>
          <p:cNvPr id="42" name="Oval 41"/>
          <p:cNvSpPr/>
          <p:nvPr/>
        </p:nvSpPr>
        <p:spPr>
          <a:xfrm>
            <a:off x="9427464" y="3127248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10344" y="3017520"/>
            <a:ext cx="208483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1050" b="0">
                <a:solidFill>
                  <a:srgbClr val="1E1B4B"/>
                </a:solidFill>
                <a:latin typeface="맑은 고딕"/>
                <a:ea typeface="맑은 고딕"/>
              </a:rPr>
              <a:t>내적일치도 Cronbach α ≥ .70 (영역) · .80 (전체)</a:t>
            </a:r>
          </a:p>
        </p:txBody>
      </p:sp>
      <p:sp>
        <p:nvSpPr>
          <p:cNvPr id="44" name="Oval 43"/>
          <p:cNvSpPr/>
          <p:nvPr/>
        </p:nvSpPr>
        <p:spPr>
          <a:xfrm>
            <a:off x="9427464" y="4023360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10344" y="3913632"/>
            <a:ext cx="208483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1050" b="0">
                <a:solidFill>
                  <a:srgbClr val="1E1B4B"/>
                </a:solidFill>
                <a:latin typeface="맑은 고딕"/>
                <a:ea typeface="맑은 고딕"/>
              </a:rPr>
              <a:t>2주 간격 검사-재검사 r ≥ .70</a:t>
            </a:r>
          </a:p>
        </p:txBody>
      </p:sp>
      <p:sp>
        <p:nvSpPr>
          <p:cNvPr id="46" name="Oval 45"/>
          <p:cNvSpPr/>
          <p:nvPr/>
        </p:nvSpPr>
        <p:spPr>
          <a:xfrm>
            <a:off x="9427464" y="4919472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10344" y="4809744"/>
            <a:ext cx="208483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1050" b="0">
                <a:solidFill>
                  <a:srgbClr val="1E1B4B"/>
                </a:solidFill>
                <a:latin typeface="맑은 고딕"/>
                <a:ea typeface="맑은 고딕"/>
              </a:rPr>
              <a:t>RCI·Cohen’s d로 사전–사후 변화 정량화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8640" y="6199632"/>
            <a:ext cx="2205736" cy="256032"/>
          </a:xfrm>
          <a:prstGeom prst="roundRect">
            <a:avLst>
              <a:gd name="adj" fmla="val 40000"/>
            </a:avLst>
          </a:prstGeom>
          <a:solidFill>
            <a:srgbClr val="2E1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6199632"/>
            <a:ext cx="220573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예비조사 N=300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779776" y="6199632"/>
            <a:ext cx="2205736" cy="256032"/>
          </a:xfrm>
          <a:prstGeom prst="roundRect">
            <a:avLst>
              <a:gd name="adj" fmla="val 40000"/>
            </a:avLst>
          </a:prstGeom>
          <a:solidFill>
            <a:srgbClr val="2E1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79776" y="6199632"/>
            <a:ext cx="220573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본조사 N=1,200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010912" y="6199632"/>
            <a:ext cx="2205736" cy="256032"/>
          </a:xfrm>
          <a:prstGeom prst="roundRect">
            <a:avLst>
              <a:gd name="adj" fmla="val 40000"/>
            </a:avLst>
          </a:prstGeom>
          <a:solidFill>
            <a:srgbClr val="2E1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10912" y="6199632"/>
            <a:ext cx="220573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CFI&gt;.90 · RMSEA&lt;.08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242048" y="6199632"/>
            <a:ext cx="2205736" cy="256032"/>
          </a:xfrm>
          <a:prstGeom prst="roundRect">
            <a:avLst>
              <a:gd name="adj" fmla="val 40000"/>
            </a:avLst>
          </a:prstGeom>
          <a:solidFill>
            <a:srgbClr val="2E1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242048" y="6199632"/>
            <a:ext cx="220573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α ≥ .70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473184" y="6199632"/>
            <a:ext cx="2205736" cy="256032"/>
          </a:xfrm>
          <a:prstGeom prst="roundRect">
            <a:avLst>
              <a:gd name="adj" fmla="val 40000"/>
            </a:avLst>
          </a:prstGeom>
          <a:solidFill>
            <a:srgbClr val="2E1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473184" y="6199632"/>
            <a:ext cx="220573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RCI · Cohen’s 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  <a:ea typeface="맑은 고딕"/>
              </a:rPr>
              <a:t>초등 3~4학년 핵심 역량 진단시스템 개발 기획서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  <a:ea typeface="맑은 고딕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1645920" cy="310896"/>
          </a:xfrm>
          <a:prstGeom prst="roundRect">
            <a:avLst>
              <a:gd name="adj" fmla="val 4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5B21B6"/>
                </a:solidFill>
                <a:latin typeface="맑은 고딕"/>
                <a:ea typeface="맑은 고딕"/>
              </a:rPr>
              <a:t>PART 04  운영 및 활용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800" b="1">
                <a:solidFill>
                  <a:srgbClr val="1E1B4B"/>
                </a:solidFill>
                <a:latin typeface="맑은 고딕"/>
                <a:ea typeface="맑은 고딕"/>
              </a:rPr>
              <a:t>채점 · 결과 해석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11155680" cy="127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2E1065"/>
                </a:solidFill>
                <a:latin typeface="맑은 고딕"/>
                <a:ea typeface="맑은 고딕"/>
              </a:rPr>
              <a:t>채점 파이프라인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03120"/>
            <a:ext cx="457200" cy="457200"/>
          </a:xfrm>
          <a:prstGeom prst="ellipse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12140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1E1B4B"/>
                </a:solidFill>
                <a:latin typeface="맑은 고딕"/>
                <a:ea typeface="맑은 고딕"/>
              </a:rPr>
              <a:t>원점수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3774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050" b="0">
                <a:solidFill>
                  <a:srgbClr val="4B5563"/>
                </a:solidFill>
                <a:latin typeface="맑은 고딕"/>
                <a:ea typeface="맑은 고딕"/>
              </a:rPr>
              <a:t>영역별 합산 (역문항 역채점)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" y="2606040"/>
            <a:ext cx="25400" cy="228600"/>
          </a:xfrm>
          <a:prstGeom prst="rect">
            <a:avLst/>
          </a:prstGeom>
          <a:solidFill>
            <a:srgbClr val="DDD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48640" y="2852928"/>
            <a:ext cx="457200" cy="457200"/>
          </a:xfrm>
          <a:prstGeom prst="ellipse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85292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871216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1E1B4B"/>
                </a:solidFill>
                <a:latin typeface="맑은 고딕"/>
                <a:ea typeface="맑은 고딕"/>
              </a:rPr>
              <a:t>척도 점수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12724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050" b="0">
                <a:solidFill>
                  <a:srgbClr val="4B5563"/>
                </a:solidFill>
                <a:latin typeface="맑은 고딕"/>
                <a:ea typeface="맑은 고딕"/>
              </a:rPr>
              <a:t>T점수 변환 (M=50, SD=10) · 규준 참조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3355848"/>
            <a:ext cx="25400" cy="228600"/>
          </a:xfrm>
          <a:prstGeom prst="rect">
            <a:avLst/>
          </a:prstGeom>
          <a:solidFill>
            <a:srgbClr val="DDD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48640" y="3602736"/>
            <a:ext cx="457200" cy="457200"/>
          </a:xfrm>
          <a:prstGeom prst="ellipse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60273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621024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1E1B4B"/>
                </a:solidFill>
                <a:latin typeface="맑은 고딕"/>
                <a:ea typeface="맑은 고딕"/>
              </a:rPr>
              <a:t>임상 해석대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877056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050" b="0">
                <a:solidFill>
                  <a:srgbClr val="4B5563"/>
                </a:solidFill>
                <a:latin typeface="맑은 고딕"/>
                <a:ea typeface="맑은 고딕"/>
              </a:rPr>
              <a:t>주의 (T&lt;40) · 평균 (40–60) · 강점 (T&gt;60)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8096" y="4105656"/>
            <a:ext cx="25400" cy="228600"/>
          </a:xfrm>
          <a:prstGeom prst="rect">
            <a:avLst/>
          </a:prstGeom>
          <a:solidFill>
            <a:srgbClr val="DDD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48640" y="4352544"/>
            <a:ext cx="457200" cy="457200"/>
          </a:xfrm>
          <a:prstGeom prst="ellipse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35254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37083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1E1B4B"/>
                </a:solidFill>
                <a:latin typeface="맑은 고딕"/>
                <a:ea typeface="맑은 고딕"/>
              </a:rPr>
              <a:t>프로파일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4626864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050" b="0">
                <a:solidFill>
                  <a:srgbClr val="4B5563"/>
                </a:solidFill>
                <a:latin typeface="맑은 고딕"/>
                <a:ea typeface="맑은 고딕"/>
              </a:rPr>
              <a:t>6역량 레이더 그래프 · 강·약 패턴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8096" y="4855464"/>
            <a:ext cx="25400" cy="228600"/>
          </a:xfrm>
          <a:prstGeom prst="rect">
            <a:avLst/>
          </a:prstGeom>
          <a:solidFill>
            <a:srgbClr val="DDD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48640" y="5102352"/>
            <a:ext cx="457200" cy="457200"/>
          </a:xfrm>
          <a:prstGeom prst="ellipse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10235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51206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1E1B4B"/>
                </a:solidFill>
                <a:latin typeface="맑은 고딕"/>
                <a:ea typeface="맑은 고딕"/>
              </a:rPr>
              <a:t>변화 지표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537667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050" b="0">
                <a:solidFill>
                  <a:srgbClr val="4B5563"/>
                </a:solidFill>
                <a:latin typeface="맑은 고딕"/>
                <a:ea typeface="맑은 고딕"/>
              </a:rPr>
              <a:t>사전–사후 ΔT · RCI · Cohen’s 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92240" y="1645920"/>
            <a:ext cx="5212080" cy="4297680"/>
          </a:xfrm>
          <a:prstGeom prst="roundRect">
            <a:avLst>
              <a:gd name="adj" fmla="val 4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66560" y="178308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2E1065"/>
                </a:solidFill>
                <a:latin typeface="맑은 고딕"/>
                <a:ea typeface="맑은 고딕"/>
              </a:rPr>
              <a:t>결과 해석 예시 · 아동 A (3학년 여)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95160" y="4526280"/>
            <a:ext cx="4434840" cy="127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995160" y="2958738"/>
            <a:ext cx="4434840" cy="63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01968" y="275757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800" b="1">
                <a:solidFill>
                  <a:srgbClr val="F59E0B"/>
                </a:solidFill>
                <a:latin typeface="맑은 고딕"/>
                <a:ea typeface="맑은 고딕"/>
              </a:rPr>
              <a:t>T=50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95160" y="3084141"/>
            <a:ext cx="273418" cy="1442139"/>
          </a:xfrm>
          <a:prstGeom prst="rect">
            <a:avLst/>
          </a:prstGeom>
          <a:solidFill>
            <a:srgbClr val="DDD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293978" y="2896036"/>
            <a:ext cx="273418" cy="1630244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95160" y="4562856"/>
            <a:ext cx="57223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4B5563"/>
                </a:solidFill>
                <a:latin typeface="맑은 고딕"/>
                <a:ea typeface="맑은 고딕"/>
              </a:rPr>
              <a:t>CO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67680" y="3334948"/>
            <a:ext cx="273418" cy="1191332"/>
          </a:xfrm>
          <a:prstGeom prst="rect">
            <a:avLst/>
          </a:prstGeom>
          <a:solidFill>
            <a:srgbClr val="DDD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66499" y="2990088"/>
            <a:ext cx="273418" cy="1536192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67680" y="4562856"/>
            <a:ext cx="57223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4B5563"/>
                </a:solidFill>
                <a:latin typeface="맑은 고딕"/>
                <a:ea typeface="맑은 고딕"/>
              </a:rPr>
              <a:t>RE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540201" y="3209544"/>
            <a:ext cx="273418" cy="1316736"/>
          </a:xfrm>
          <a:prstGeom prst="rect">
            <a:avLst/>
          </a:prstGeom>
          <a:solidFill>
            <a:srgbClr val="DDD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839019" y="2958738"/>
            <a:ext cx="273418" cy="1567542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40201" y="4562856"/>
            <a:ext cx="57223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4B5563"/>
                </a:solidFill>
                <a:latin typeface="맑은 고딕"/>
                <a:ea typeface="맑은 고딕"/>
              </a:rPr>
              <a:t>SL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312721" y="2801983"/>
            <a:ext cx="273418" cy="1724297"/>
          </a:xfrm>
          <a:prstGeom prst="rect">
            <a:avLst/>
          </a:prstGeom>
          <a:solidFill>
            <a:srgbClr val="DDD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611540" y="2707931"/>
            <a:ext cx="273418" cy="1818349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12721" y="4562856"/>
            <a:ext cx="57223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4B5563"/>
                </a:solidFill>
                <a:latin typeface="맑은 고딕"/>
                <a:ea typeface="맑은 고딕"/>
              </a:rPr>
              <a:t>CT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085242" y="3146843"/>
            <a:ext cx="273418" cy="1379437"/>
          </a:xfrm>
          <a:prstGeom prst="rect">
            <a:avLst/>
          </a:prstGeom>
          <a:solidFill>
            <a:srgbClr val="DDD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384060" y="2896036"/>
            <a:ext cx="273418" cy="1630244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085242" y="4562856"/>
            <a:ext cx="57223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4B5563"/>
                </a:solidFill>
                <a:latin typeface="맑은 고딕"/>
                <a:ea typeface="맑은 고딕"/>
              </a:rPr>
              <a:t>SE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857762" y="2645229"/>
            <a:ext cx="273418" cy="1881051"/>
          </a:xfrm>
          <a:prstGeom prst="rect">
            <a:avLst/>
          </a:prstGeom>
          <a:solidFill>
            <a:srgbClr val="DDD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156581" y="2551176"/>
            <a:ext cx="273418" cy="1975104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857762" y="4562856"/>
            <a:ext cx="57223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4B5563"/>
                </a:solidFill>
                <a:latin typeface="맑은 고딕"/>
                <a:ea typeface="맑은 고딕"/>
              </a:rPr>
              <a:t>CR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995160" y="4919472"/>
            <a:ext cx="201168" cy="201168"/>
          </a:xfrm>
          <a:prstGeom prst="rect">
            <a:avLst/>
          </a:prstGeom>
          <a:solidFill>
            <a:srgbClr val="DDD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51192" y="4901184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>
                <a:solidFill>
                  <a:srgbClr val="4B5563"/>
                </a:solidFill>
                <a:latin typeface="맑은 고딕"/>
                <a:ea typeface="맑은 고딕"/>
              </a:rPr>
              <a:t>사전 (T점수)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641080" y="4919472"/>
            <a:ext cx="201168" cy="201168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897112" y="4901184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>
                <a:solidFill>
                  <a:srgbClr val="4B5563"/>
                </a:solidFill>
                <a:latin typeface="맑은 고딕"/>
                <a:ea typeface="맑은 고딕"/>
              </a:rPr>
              <a:t>사후 (T점수)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766560" y="5212080"/>
            <a:ext cx="46634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950" b="0">
                <a:solidFill>
                  <a:srgbClr val="1E1B4B"/>
                </a:solidFill>
                <a:latin typeface="맑은 고딕"/>
                <a:ea typeface="맑은 고딕"/>
              </a:rPr>
              <a:t>해석 · 회복 탄력성·자기주도력에서 사전 T&lt;40 ‘주의’ 영역에 해당하였으며, 10주 개입 후 ΔT +11·+8로 RCI 기준 임상적 변화(+). 창의적 표현력·비판적 사고는 지속적 강점 영역으로 식별.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48640" y="5961888"/>
            <a:ext cx="11155680" cy="420624"/>
          </a:xfrm>
          <a:prstGeom prst="roundRect">
            <a:avLst>
              <a:gd name="adj" fmla="val 4000"/>
            </a:avLst>
          </a:prstGeom>
          <a:solidFill>
            <a:srgbClr val="FDF2F8"/>
          </a:solidFill>
          <a:ln w="9525">
            <a:solidFill>
              <a:srgbClr val="BE1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1520" y="5961888"/>
            <a:ext cx="109728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>
                <a:solidFill>
                  <a:srgbClr val="BE123C"/>
                </a:solidFill>
                <a:latin typeface="맑은 고딕"/>
                <a:ea typeface="맑은 고딕"/>
              </a:rPr>
              <a:t>⚠︎ 해석 유의사항 · 본 시스템은 ‘진단(diagnosis)’이 아닌 ‘선별·프로파일(screening/profile)’ 도구로 사용되며, 임상적 의사결정은 전문가의 종합적 평가로 대체할 수 없음.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  <a:ea typeface="맑은 고딕"/>
              </a:rPr>
              <a:t>초등 3~4학년 핵심 역량 진단시스템 개발 기획서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  <a:ea typeface="맑은 고딕"/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1645920" cy="310896"/>
          </a:xfrm>
          <a:prstGeom prst="roundRect">
            <a:avLst>
              <a:gd name="adj" fmla="val 4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5B21B6"/>
                </a:solidFill>
                <a:latin typeface="맑은 고딕"/>
                <a:ea typeface="맑은 고딕"/>
              </a:rPr>
              <a:t>PART 04  운영 및 활용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800" b="1">
                <a:solidFill>
                  <a:srgbClr val="1E1B4B"/>
                </a:solidFill>
                <a:latin typeface="맑은 고딕"/>
                <a:ea typeface="맑은 고딕"/>
              </a:rPr>
              <a:t>시스템 운영 프로세스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11155680" cy="127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2194560" cy="2560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2194560" cy="502920"/>
          </a:xfrm>
          <a:prstGeom prst="rect">
            <a:avLst/>
          </a:prstGeom>
          <a:solidFill>
            <a:srgbClr val="2E1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F59E0B"/>
                </a:solidFill>
                <a:latin typeface="맑은 고딕"/>
                <a:ea typeface="맑은 고딕"/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3347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800" b="1">
                <a:solidFill>
                  <a:srgbClr val="1E1B4B"/>
                </a:solidFill>
                <a:latin typeface="맑은 고딕"/>
                <a:ea typeface="맑은 고딕"/>
              </a:rPr>
              <a:t>응시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063240"/>
            <a:ext cx="1280160" cy="274320"/>
          </a:xfrm>
          <a:prstGeom prst="roundRect">
            <a:avLst>
              <a:gd name="adj" fmla="val 40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063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7C3AED"/>
                </a:solidFill>
                <a:latin typeface="맑은 고딕"/>
                <a:ea typeface="맑은 고딕"/>
              </a:rPr>
              <a:t>아동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74720"/>
            <a:ext cx="1828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050" b="0">
                <a:solidFill>
                  <a:srgbClr val="4B5563"/>
                </a:solidFill>
                <a:latin typeface="맑은 고딕"/>
                <a:ea typeface="맑은 고딕"/>
              </a:rPr>
              <a:t>태블릿·웹 기반 20–25분 내 완료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747772" y="3200400"/>
            <a:ext cx="100584" cy="201168"/>
          </a:xfrm>
          <a:prstGeom prst="rightArrow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852928" y="2011680"/>
            <a:ext cx="2194560" cy="2560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52928" y="2011680"/>
            <a:ext cx="2194560" cy="502920"/>
          </a:xfrm>
          <a:prstGeom prst="rect">
            <a:avLst/>
          </a:prstGeom>
          <a:solidFill>
            <a:srgbClr val="2E1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35808" y="21031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F59E0B"/>
                </a:solidFill>
                <a:latin typeface="맑은 고딕"/>
                <a:ea typeface="맑은 고딕"/>
              </a:rPr>
              <a:t>STEP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35808" y="263347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800" b="1">
                <a:solidFill>
                  <a:srgbClr val="1E1B4B"/>
                </a:solidFill>
                <a:latin typeface="맑은 고딕"/>
                <a:ea typeface="맑은 고딕"/>
              </a:rPr>
              <a:t>수집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35808" y="3063240"/>
            <a:ext cx="1280160" cy="274320"/>
          </a:xfrm>
          <a:prstGeom prst="roundRect">
            <a:avLst>
              <a:gd name="adj" fmla="val 40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35808" y="3063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7C3AED"/>
                </a:solidFill>
                <a:latin typeface="맑은 고딕"/>
                <a:ea typeface="맑은 고딕"/>
              </a:rPr>
              <a:t>플랫폼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5808" y="3474720"/>
            <a:ext cx="1828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050" b="0">
                <a:solidFill>
                  <a:srgbClr val="4B5563"/>
                </a:solidFill>
                <a:latin typeface="맑은 고딕"/>
                <a:ea typeface="맑은 고딕"/>
              </a:rPr>
              <a:t>자동 채점 + 응답시간·일관성 지수 수집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052060" y="3200400"/>
            <a:ext cx="100584" cy="201168"/>
          </a:xfrm>
          <a:prstGeom prst="rightArrow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157216" y="2011680"/>
            <a:ext cx="2194560" cy="2560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57216" y="2011680"/>
            <a:ext cx="2194560" cy="502920"/>
          </a:xfrm>
          <a:prstGeom prst="rect">
            <a:avLst/>
          </a:prstGeom>
          <a:solidFill>
            <a:srgbClr val="2E1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40096" y="21031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F59E0B"/>
                </a:solidFill>
                <a:latin typeface="맑은 고딕"/>
                <a:ea typeface="맑은 고딕"/>
              </a:rPr>
              <a:t>STEP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0096" y="263347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800" b="1">
                <a:solidFill>
                  <a:srgbClr val="1E1B4B"/>
                </a:solidFill>
                <a:latin typeface="맑은 고딕"/>
                <a:ea typeface="맑은 고딕"/>
              </a:rPr>
              <a:t>분석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40096" y="3063240"/>
            <a:ext cx="1280160" cy="274320"/>
          </a:xfrm>
          <a:prstGeom prst="roundRect">
            <a:avLst>
              <a:gd name="adj" fmla="val 40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40096" y="3063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7C3AED"/>
                </a:solidFill>
                <a:latin typeface="맑은 고딕"/>
                <a:ea typeface="맑은 고딕"/>
              </a:rPr>
              <a:t>엔진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40096" y="3474720"/>
            <a:ext cx="1828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050" b="0">
                <a:solidFill>
                  <a:srgbClr val="4B5563"/>
                </a:solidFill>
                <a:latin typeface="맑은 고딕"/>
                <a:ea typeface="맑은 고딕"/>
              </a:rPr>
              <a:t>규준 변환 · 임상 해석대 판정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7356348" y="3200400"/>
            <a:ext cx="100584" cy="201168"/>
          </a:xfrm>
          <a:prstGeom prst="rightArrow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461504" y="2011680"/>
            <a:ext cx="2194560" cy="2560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461504" y="2011680"/>
            <a:ext cx="2194560" cy="502920"/>
          </a:xfrm>
          <a:prstGeom prst="rect">
            <a:avLst/>
          </a:prstGeom>
          <a:solidFill>
            <a:srgbClr val="2E1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44384" y="21031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F59E0B"/>
                </a:solidFill>
                <a:latin typeface="맑은 고딕"/>
                <a:ea typeface="맑은 고딕"/>
              </a:rPr>
              <a:t>STEP 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44384" y="263347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800" b="1">
                <a:solidFill>
                  <a:srgbClr val="1E1B4B"/>
                </a:solidFill>
                <a:latin typeface="맑은 고딕"/>
                <a:ea typeface="맑은 고딕"/>
              </a:rPr>
              <a:t>환류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644384" y="3063240"/>
            <a:ext cx="1280160" cy="274320"/>
          </a:xfrm>
          <a:prstGeom prst="roundRect">
            <a:avLst>
              <a:gd name="adj" fmla="val 40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44384" y="3063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7C3AED"/>
                </a:solidFill>
                <a:latin typeface="맑은 고딕"/>
                <a:ea typeface="맑은 고딕"/>
              </a:rPr>
              <a:t>교사·보호자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44384" y="3474720"/>
            <a:ext cx="1828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050" b="0">
                <a:solidFill>
                  <a:srgbClr val="4B5563"/>
                </a:solidFill>
                <a:latin typeface="맑은 고딕"/>
                <a:ea typeface="맑은 고딕"/>
              </a:rPr>
              <a:t>프로파일 리포트·해석 가이드 제공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9660636" y="3200400"/>
            <a:ext cx="100584" cy="201168"/>
          </a:xfrm>
          <a:prstGeom prst="rightArrow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765792" y="2011680"/>
            <a:ext cx="2194560" cy="2560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765792" y="2011680"/>
            <a:ext cx="2194560" cy="502920"/>
          </a:xfrm>
          <a:prstGeom prst="rect">
            <a:avLst/>
          </a:prstGeom>
          <a:solidFill>
            <a:srgbClr val="2E1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48672" y="21031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F59E0B"/>
                </a:solidFill>
                <a:latin typeface="맑은 고딕"/>
                <a:ea typeface="맑은 고딕"/>
              </a:rPr>
              <a:t>STEP 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48672" y="263347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800" b="1">
                <a:solidFill>
                  <a:srgbClr val="1E1B4B"/>
                </a:solidFill>
                <a:latin typeface="맑은 고딕"/>
                <a:ea typeface="맑은 고딕"/>
              </a:rPr>
              <a:t>축적·연구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948672" y="3063240"/>
            <a:ext cx="1280160" cy="274320"/>
          </a:xfrm>
          <a:prstGeom prst="roundRect">
            <a:avLst>
              <a:gd name="adj" fmla="val 40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948672" y="3063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7C3AED"/>
                </a:solidFill>
                <a:latin typeface="맑은 고딕"/>
                <a:ea typeface="맑은 고딕"/>
              </a:rPr>
              <a:t>연구자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48672" y="3474720"/>
            <a:ext cx="1828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050" b="0">
                <a:solidFill>
                  <a:srgbClr val="4B5563"/>
                </a:solidFill>
                <a:latin typeface="맑은 고딕"/>
                <a:ea typeface="맑은 고딕"/>
              </a:rPr>
              <a:t>가명화 DB · 종단·정책 연구 자료화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480060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2E1065"/>
                </a:solidFill>
                <a:latin typeface="맑은 고딕"/>
                <a:ea typeface="맑은 고딕"/>
              </a:rPr>
              <a:t>대상별 접근 구조 (Role-based Access)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8640" y="5212080"/>
            <a:ext cx="2724912" cy="105156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48640" y="5212080"/>
            <a:ext cx="73152" cy="10515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49808" y="5330952"/>
            <a:ext cx="23591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1E1B4B"/>
                </a:solidFill>
                <a:latin typeface="맑은 고딕"/>
                <a:ea typeface="맑은 고딕"/>
              </a:rPr>
              <a:t>학생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9808" y="5650992"/>
            <a:ext cx="2359152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050" b="0">
                <a:solidFill>
                  <a:srgbClr val="4B5563"/>
                </a:solidFill>
                <a:latin typeface="맑은 고딕"/>
                <a:ea typeface="맑은 고딕"/>
              </a:rPr>
              <a:t>진단 응시·내 프로파일 열람 (간이)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383280" y="5212080"/>
            <a:ext cx="2724912" cy="105156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383280" y="5212080"/>
            <a:ext cx="73152" cy="105156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584448" y="5330952"/>
            <a:ext cx="23591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1E1B4B"/>
                </a:solidFill>
                <a:latin typeface="맑은 고딕"/>
                <a:ea typeface="맑은 고딕"/>
              </a:rPr>
              <a:t>교사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84448" y="5650992"/>
            <a:ext cx="2359152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050" b="0">
                <a:solidFill>
                  <a:srgbClr val="4B5563"/>
                </a:solidFill>
                <a:latin typeface="맑은 고딕"/>
                <a:ea typeface="맑은 고딕"/>
              </a:rPr>
              <a:t>학급 단위 결과·개입 계획 연동 가이드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217920" y="5212080"/>
            <a:ext cx="2724912" cy="105156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217920" y="5212080"/>
            <a:ext cx="73152" cy="10515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19088" y="5330952"/>
            <a:ext cx="23591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1E1B4B"/>
                </a:solidFill>
                <a:latin typeface="맑은 고딕"/>
                <a:ea typeface="맑은 고딕"/>
              </a:rPr>
              <a:t>보호자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19088" y="5650992"/>
            <a:ext cx="2359152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050" b="0">
                <a:solidFill>
                  <a:srgbClr val="4B5563"/>
                </a:solidFill>
                <a:latin typeface="맑은 고딕"/>
                <a:ea typeface="맑은 고딕"/>
              </a:rPr>
              <a:t>자녀 프로파일·가정 연계 활동지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052560" y="5212080"/>
            <a:ext cx="2724912" cy="105156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052560" y="5212080"/>
            <a:ext cx="73152" cy="10515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253728" y="5330952"/>
            <a:ext cx="23591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1E1B4B"/>
                </a:solidFill>
                <a:latin typeface="맑은 고딕"/>
                <a:ea typeface="맑은 고딕"/>
              </a:rPr>
              <a:t>연구자·정책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253728" y="5650992"/>
            <a:ext cx="2359152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050" b="0">
                <a:solidFill>
                  <a:srgbClr val="4B5563"/>
                </a:solidFill>
                <a:latin typeface="맑은 고딕"/>
                <a:ea typeface="맑은 고딕"/>
              </a:rPr>
              <a:t>가명화 마이크로데이터 · 집계 지표 API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  <a:ea typeface="맑은 고딕"/>
              </a:rPr>
              <a:t>초등 3~4학년 핵심 역량 진단시스템 개발 기획서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  <a:ea typeface="맑은 고딕"/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1645920" cy="310896"/>
          </a:xfrm>
          <a:prstGeom prst="roundRect">
            <a:avLst>
              <a:gd name="adj" fmla="val 4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5B21B6"/>
                </a:solidFill>
                <a:latin typeface="맑은 고딕"/>
                <a:ea typeface="맑은 고딕"/>
              </a:rPr>
              <a:t>PART 04  운영 및 활용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800" b="1">
                <a:solidFill>
                  <a:srgbClr val="1E1B4B"/>
                </a:solidFill>
                <a:latin typeface="맑은 고딕"/>
                <a:ea typeface="맑은 고딕"/>
              </a:rPr>
              <a:t>연구윤리 및 개인정보보호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11155680" cy="127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</a:rPr>
              <a:t>아동 대상 연구 윤리 원칙과 개인정보 관리 체계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40280"/>
            <a:ext cx="566928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240280"/>
            <a:ext cx="91440" cy="100584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50008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50" b="1">
                <a:solidFill>
                  <a:srgbClr val="1E1B4B"/>
                </a:solidFill>
                <a:latin typeface="맑은 고딕"/>
                <a:ea typeface="맑은 고딕"/>
              </a:rPr>
              <a:t>IRB 심의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70048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1050" b="0">
                <a:solidFill>
                  <a:srgbClr val="4B5563"/>
                </a:solidFill>
                <a:latin typeface="맑은 고딕"/>
                <a:ea typeface="맑은 고딕"/>
              </a:rPr>
              <a:t>기관생명윤리위원회(IRB) 승인 후 본조사 진행. 연구계획·동의서·문항·보안계획 일괄 심의.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374136"/>
            <a:ext cx="566928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374136"/>
            <a:ext cx="91440" cy="100584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483864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50" b="1">
                <a:solidFill>
                  <a:srgbClr val="1E1B4B"/>
                </a:solidFill>
                <a:latin typeface="맑은 고딕"/>
                <a:ea typeface="맑은 고딕"/>
              </a:rPr>
              <a:t>이중 동의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803904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1050" b="0">
                <a:solidFill>
                  <a:srgbClr val="4B5563"/>
                </a:solidFill>
                <a:latin typeface="맑은 고딕"/>
                <a:ea typeface="맑은 고딕"/>
              </a:rPr>
              <a:t>보호자 서면 동의 + 아동 발달연령 맞춘 조정된 구두·시각 동의(assent) 절차.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07992"/>
            <a:ext cx="566928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507992"/>
            <a:ext cx="91440" cy="100584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61772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50" b="1">
                <a:solidFill>
                  <a:srgbClr val="1E1B4B"/>
                </a:solidFill>
                <a:latin typeface="맑은 고딕"/>
                <a:ea typeface="맑은 고딕"/>
              </a:rPr>
              <a:t>가명화·분리보관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937760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1050" b="0">
                <a:solidFill>
                  <a:srgbClr val="4B5563"/>
                </a:solidFill>
                <a:latin typeface="맑은 고딕"/>
                <a:ea typeface="맑은 고딕"/>
              </a:rPr>
              <a:t>이름·학번 등 직접식별자 즉시 가명 처리. 식별키는 별도 암호화 저장, 접근권한 분리.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641848"/>
            <a:ext cx="566928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5641848"/>
            <a:ext cx="91440" cy="100584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751576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50" b="1">
                <a:solidFill>
                  <a:srgbClr val="1E1B4B"/>
                </a:solidFill>
                <a:latin typeface="맑은 고딕"/>
                <a:ea typeface="맑은 고딕"/>
              </a:rPr>
              <a:t>심리적 안전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071616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1050" b="0">
                <a:solidFill>
                  <a:srgbClr val="4B5563"/>
                </a:solidFill>
                <a:latin typeface="맑은 고딕"/>
                <a:ea typeface="맑은 고딕"/>
              </a:rPr>
              <a:t>부정 정서 유발 가능 문항 최소화, 응시 중단권 고지, 고위험 프로파일 발견 시 전문 상담 의뢰 프로토콜.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0" y="2240280"/>
            <a:ext cx="5120640" cy="4160520"/>
          </a:xfrm>
          <a:prstGeom prst="roundRect">
            <a:avLst>
              <a:gd name="adj" fmla="val 4000"/>
            </a:avLst>
          </a:prstGeom>
          <a:solidFill>
            <a:srgbClr val="2E1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0" y="23774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F59E0B"/>
                </a:solidFill>
                <a:latin typeface="맑은 고딕"/>
                <a:ea typeface="맑은 고딕"/>
              </a:rPr>
              <a:t>DATA LIFECYCLE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6517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데이터 생애주기 관리</a:t>
            </a:r>
          </a:p>
        </p:txBody>
      </p:sp>
      <p:sp>
        <p:nvSpPr>
          <p:cNvPr id="27" name="Oval 26"/>
          <p:cNvSpPr/>
          <p:nvPr/>
        </p:nvSpPr>
        <p:spPr>
          <a:xfrm>
            <a:off x="6858000" y="3227832"/>
            <a:ext cx="320040" cy="3200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3227832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2E1065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3191256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수집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3429000"/>
            <a:ext cx="41148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DDD6FE"/>
                </a:solidFill>
                <a:latin typeface="맑은 고딕"/>
                <a:ea typeface="맑은 고딕"/>
              </a:rPr>
              <a:t>최소필요정보 원칙 · HTTPS·저장 시 AES-256</a:t>
            </a:r>
          </a:p>
        </p:txBody>
      </p:sp>
      <p:sp>
        <p:nvSpPr>
          <p:cNvPr id="31" name="Oval 30"/>
          <p:cNvSpPr/>
          <p:nvPr/>
        </p:nvSpPr>
        <p:spPr>
          <a:xfrm>
            <a:off x="6858000" y="3849624"/>
            <a:ext cx="320040" cy="3200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0" y="3849624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2E1065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69480" y="381304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처리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69480" y="4050792"/>
            <a:ext cx="41148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DDD6FE"/>
                </a:solidFill>
                <a:latin typeface="맑은 고딕"/>
                <a:ea typeface="맑은 고딕"/>
              </a:rPr>
              <a:t>가명화 후 분석 · 접근권한 4단계(Role) 로그 감사</a:t>
            </a:r>
          </a:p>
        </p:txBody>
      </p:sp>
      <p:sp>
        <p:nvSpPr>
          <p:cNvPr id="35" name="Oval 34"/>
          <p:cNvSpPr/>
          <p:nvPr/>
        </p:nvSpPr>
        <p:spPr>
          <a:xfrm>
            <a:off x="6858000" y="4471416"/>
            <a:ext cx="320040" cy="3200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0" y="4471416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2E1065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69480" y="44348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공유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69480" y="4672584"/>
            <a:ext cx="41148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DDD6FE"/>
                </a:solidFill>
                <a:latin typeface="맑은 고딕"/>
                <a:ea typeface="맑은 고딕"/>
              </a:rPr>
              <a:t>집계 결과만 외부 공개 · 마이크로데이터는 안전한 분석환경 내 접근</a:t>
            </a:r>
          </a:p>
        </p:txBody>
      </p:sp>
      <p:sp>
        <p:nvSpPr>
          <p:cNvPr id="39" name="Oval 38"/>
          <p:cNvSpPr/>
          <p:nvPr/>
        </p:nvSpPr>
        <p:spPr>
          <a:xfrm>
            <a:off x="6858000" y="5093208"/>
            <a:ext cx="320040" cy="3200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0" y="5093208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2E1065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69480" y="505663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보관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69480" y="5294376"/>
            <a:ext cx="41148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DDD6FE"/>
                </a:solidFill>
                <a:latin typeface="맑은 고딕"/>
                <a:ea typeface="맑은 고딕"/>
              </a:rPr>
              <a:t>원자료 5년 · 가명화 자료 10년 · 재동의 시 추가 보관</a:t>
            </a:r>
          </a:p>
        </p:txBody>
      </p:sp>
      <p:sp>
        <p:nvSpPr>
          <p:cNvPr id="43" name="Oval 42"/>
          <p:cNvSpPr/>
          <p:nvPr/>
        </p:nvSpPr>
        <p:spPr>
          <a:xfrm>
            <a:off x="6858000" y="5715000"/>
            <a:ext cx="320040" cy="3200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0" y="571500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2E1065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69480" y="5678424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파기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69480" y="5916168"/>
            <a:ext cx="41148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DDD6FE"/>
                </a:solidFill>
                <a:latin typeface="맑은 고딕"/>
                <a:ea typeface="맑은 고딕"/>
              </a:rPr>
              <a:t>저장매체 물리적 파기 + 삭제 증빙 기록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  <a:ea typeface="맑은 고딕"/>
              </a:rPr>
              <a:t>초등 3~4학년 핵심 역량 진단시스템 개발 기획서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  <a:ea typeface="맑은 고딕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1645920" cy="310896"/>
          </a:xfrm>
          <a:prstGeom prst="roundRect">
            <a:avLst>
              <a:gd name="adj" fmla="val 4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5B21B6"/>
                </a:solidFill>
                <a:latin typeface="맑은 고딕"/>
                <a:ea typeface="맑은 고딕"/>
              </a:rPr>
              <a:t>PART 05  로드맵 및 기대효과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800" b="1">
                <a:solidFill>
                  <a:srgbClr val="1E1B4B"/>
                </a:solidFill>
                <a:latin typeface="맑은 고딕"/>
                <a:ea typeface="맑은 고딕"/>
              </a:rPr>
              <a:t>개발 로드맵 (12+α 개월)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11155680" cy="127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053328"/>
            <a:ext cx="11155680" cy="91440"/>
          </a:xfrm>
          <a:prstGeom prst="rect">
            <a:avLst/>
          </a:prstGeom>
          <a:solidFill>
            <a:srgbClr val="DDD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2231136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11680"/>
            <a:ext cx="2231136" cy="8229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2103120"/>
            <a:ext cx="17922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Phase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423160"/>
            <a:ext cx="17922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F59E0B"/>
                </a:solidFill>
                <a:latin typeface="맑은 고딕"/>
                <a:ea typeface="맑은 고딕"/>
              </a:rPr>
              <a:t>M1–M3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971800"/>
            <a:ext cx="17922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1E1B4B"/>
                </a:solidFill>
                <a:latin typeface="맑은 고딕"/>
                <a:ea typeface="맑은 고딕"/>
              </a:rPr>
              <a:t>기초연구</a:t>
            </a:r>
          </a:p>
        </p:txBody>
      </p:sp>
      <p:sp>
        <p:nvSpPr>
          <p:cNvPr id="13" name="Oval 12"/>
          <p:cNvSpPr/>
          <p:nvPr/>
        </p:nvSpPr>
        <p:spPr>
          <a:xfrm>
            <a:off x="768096" y="3520440"/>
            <a:ext cx="91440" cy="914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429000"/>
            <a:ext cx="159105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000" b="0">
                <a:solidFill>
                  <a:srgbClr val="1E1B4B"/>
                </a:solidFill>
                <a:latin typeface="맑은 고딕"/>
                <a:ea typeface="맑은 고딕"/>
              </a:rPr>
              <a:t>문헌·선행척도 메타리뷰</a:t>
            </a:r>
          </a:p>
        </p:txBody>
      </p:sp>
      <p:sp>
        <p:nvSpPr>
          <p:cNvPr id="15" name="Oval 14"/>
          <p:cNvSpPr/>
          <p:nvPr/>
        </p:nvSpPr>
        <p:spPr>
          <a:xfrm>
            <a:off x="768096" y="4325112"/>
            <a:ext cx="91440" cy="914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233672"/>
            <a:ext cx="159105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000" b="0">
                <a:solidFill>
                  <a:srgbClr val="1E1B4B"/>
                </a:solidFill>
                <a:latin typeface="맑은 고딕"/>
                <a:ea typeface="맑은 고딕"/>
              </a:rPr>
              <a:t>6대 역량 조작적 정의 확정</a:t>
            </a:r>
          </a:p>
        </p:txBody>
      </p:sp>
      <p:sp>
        <p:nvSpPr>
          <p:cNvPr id="17" name="Oval 16"/>
          <p:cNvSpPr/>
          <p:nvPr/>
        </p:nvSpPr>
        <p:spPr>
          <a:xfrm>
            <a:off x="768096" y="5129784"/>
            <a:ext cx="91440" cy="914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038344"/>
            <a:ext cx="159105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000" b="0">
                <a:solidFill>
                  <a:srgbClr val="1E1B4B"/>
                </a:solidFill>
                <a:latin typeface="맑은 고딕"/>
                <a:ea typeface="맑은 고딕"/>
              </a:rPr>
              <a:t>예비문항 Pool (120 이상)</a:t>
            </a:r>
          </a:p>
        </p:txBody>
      </p:sp>
      <p:sp>
        <p:nvSpPr>
          <p:cNvPr id="19" name="Oval 18"/>
          <p:cNvSpPr/>
          <p:nvPr/>
        </p:nvSpPr>
        <p:spPr>
          <a:xfrm>
            <a:off x="1554480" y="5961888"/>
            <a:ext cx="274320" cy="2743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852928" y="2011680"/>
            <a:ext cx="2231136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52928" y="2011680"/>
            <a:ext cx="2231136" cy="82296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72384" y="2103120"/>
            <a:ext cx="17922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Phase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72384" y="2423160"/>
            <a:ext cx="17922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F59E0B"/>
                </a:solidFill>
                <a:latin typeface="맑은 고딕"/>
                <a:ea typeface="맑은 고딕"/>
              </a:rPr>
              <a:t>M4–M6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72384" y="2971800"/>
            <a:ext cx="17922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1E1B4B"/>
                </a:solidFill>
                <a:latin typeface="맑은 고딕"/>
                <a:ea typeface="맑은 고딕"/>
              </a:rPr>
              <a:t>전문가 타당화</a:t>
            </a:r>
          </a:p>
        </p:txBody>
      </p:sp>
      <p:sp>
        <p:nvSpPr>
          <p:cNvPr id="25" name="Oval 24"/>
          <p:cNvSpPr/>
          <p:nvPr/>
        </p:nvSpPr>
        <p:spPr>
          <a:xfrm>
            <a:off x="3072384" y="3520440"/>
            <a:ext cx="91440" cy="91440"/>
          </a:xfrm>
          <a:prstGeom prst="ellipse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64408" y="3429000"/>
            <a:ext cx="159105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000" b="0">
                <a:solidFill>
                  <a:srgbClr val="1E1B4B"/>
                </a:solidFill>
                <a:latin typeface="맑은 고딕"/>
                <a:ea typeface="맑은 고딕"/>
              </a:rPr>
              <a:t>델파이 2회전 · CVI 산출</a:t>
            </a:r>
          </a:p>
        </p:txBody>
      </p:sp>
      <p:sp>
        <p:nvSpPr>
          <p:cNvPr id="27" name="Oval 26"/>
          <p:cNvSpPr/>
          <p:nvPr/>
        </p:nvSpPr>
        <p:spPr>
          <a:xfrm>
            <a:off x="3072384" y="4325112"/>
            <a:ext cx="91440" cy="91440"/>
          </a:xfrm>
          <a:prstGeom prst="ellipse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64408" y="4233672"/>
            <a:ext cx="159105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000" b="0">
                <a:solidFill>
                  <a:srgbClr val="1E1B4B"/>
                </a:solidFill>
                <a:latin typeface="맑은 고딕"/>
                <a:ea typeface="맑은 고딕"/>
              </a:rPr>
              <a:t>인지면접 (n=12) 이해도 점검</a:t>
            </a:r>
          </a:p>
        </p:txBody>
      </p:sp>
      <p:sp>
        <p:nvSpPr>
          <p:cNvPr id="29" name="Oval 28"/>
          <p:cNvSpPr/>
          <p:nvPr/>
        </p:nvSpPr>
        <p:spPr>
          <a:xfrm>
            <a:off x="3072384" y="5129784"/>
            <a:ext cx="91440" cy="91440"/>
          </a:xfrm>
          <a:prstGeom prst="ellipse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64408" y="5038344"/>
            <a:ext cx="159105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000" b="0">
                <a:solidFill>
                  <a:srgbClr val="1E1B4B"/>
                </a:solidFill>
                <a:latin typeface="맑은 고딕"/>
                <a:ea typeface="맑은 고딕"/>
              </a:rPr>
              <a:t>예비조사 N=300 · EFA</a:t>
            </a:r>
          </a:p>
        </p:txBody>
      </p:sp>
      <p:sp>
        <p:nvSpPr>
          <p:cNvPr id="31" name="Oval 30"/>
          <p:cNvSpPr/>
          <p:nvPr/>
        </p:nvSpPr>
        <p:spPr>
          <a:xfrm>
            <a:off x="3858768" y="5961888"/>
            <a:ext cx="274320" cy="274320"/>
          </a:xfrm>
          <a:prstGeom prst="ellipse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157216" y="2011680"/>
            <a:ext cx="2231136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157216" y="2011680"/>
            <a:ext cx="2231136" cy="822960"/>
          </a:xfrm>
          <a:prstGeom prst="rect">
            <a:avLst/>
          </a:prstGeom>
          <a:solidFill>
            <a:srgbClr val="2E1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76672" y="2103120"/>
            <a:ext cx="17922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Phase 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76672" y="2423160"/>
            <a:ext cx="17922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F59E0B"/>
                </a:solidFill>
                <a:latin typeface="맑은 고딕"/>
                <a:ea typeface="맑은 고딕"/>
              </a:rPr>
              <a:t>M7–M9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76672" y="2971800"/>
            <a:ext cx="17922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1E1B4B"/>
                </a:solidFill>
                <a:latin typeface="맑은 고딕"/>
                <a:ea typeface="맑은 고딕"/>
              </a:rPr>
              <a:t>본조사·검증</a:t>
            </a:r>
          </a:p>
        </p:txBody>
      </p:sp>
      <p:sp>
        <p:nvSpPr>
          <p:cNvPr id="37" name="Oval 36"/>
          <p:cNvSpPr/>
          <p:nvPr/>
        </p:nvSpPr>
        <p:spPr>
          <a:xfrm>
            <a:off x="5376672" y="3520440"/>
            <a:ext cx="91440" cy="91440"/>
          </a:xfrm>
          <a:prstGeom prst="ellipse">
            <a:avLst/>
          </a:prstGeom>
          <a:solidFill>
            <a:srgbClr val="2E1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68696" y="3429000"/>
            <a:ext cx="159105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000" b="0">
                <a:solidFill>
                  <a:srgbClr val="1E1B4B"/>
                </a:solidFill>
                <a:latin typeface="맑은 고딕"/>
                <a:ea typeface="맑은 고딕"/>
              </a:rPr>
              <a:t>전국 표집 본조사 N=1,200</a:t>
            </a:r>
          </a:p>
        </p:txBody>
      </p:sp>
      <p:sp>
        <p:nvSpPr>
          <p:cNvPr id="39" name="Oval 38"/>
          <p:cNvSpPr/>
          <p:nvPr/>
        </p:nvSpPr>
        <p:spPr>
          <a:xfrm>
            <a:off x="5376672" y="4325112"/>
            <a:ext cx="91440" cy="91440"/>
          </a:xfrm>
          <a:prstGeom prst="ellipse">
            <a:avLst/>
          </a:prstGeom>
          <a:solidFill>
            <a:srgbClr val="2E1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568696" y="4233672"/>
            <a:ext cx="159105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000" b="0">
                <a:solidFill>
                  <a:srgbClr val="1E1B4B"/>
                </a:solidFill>
                <a:latin typeface="맑은 고딕"/>
                <a:ea typeface="맑은 고딕"/>
              </a:rPr>
              <a:t>CFA · 신뢰도 · 수렴변별 타당도</a:t>
            </a:r>
          </a:p>
        </p:txBody>
      </p:sp>
      <p:sp>
        <p:nvSpPr>
          <p:cNvPr id="41" name="Oval 40"/>
          <p:cNvSpPr/>
          <p:nvPr/>
        </p:nvSpPr>
        <p:spPr>
          <a:xfrm>
            <a:off x="5376672" y="5129784"/>
            <a:ext cx="91440" cy="91440"/>
          </a:xfrm>
          <a:prstGeom prst="ellipse">
            <a:avLst/>
          </a:prstGeom>
          <a:solidFill>
            <a:srgbClr val="2E1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68696" y="5038344"/>
            <a:ext cx="159105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000" b="0">
                <a:solidFill>
                  <a:srgbClr val="1E1B4B"/>
                </a:solidFill>
                <a:latin typeface="맑은 고딕"/>
                <a:ea typeface="맑은 고딕"/>
              </a:rPr>
              <a:t>규준표 작성 (학년·성별)</a:t>
            </a:r>
          </a:p>
        </p:txBody>
      </p:sp>
      <p:sp>
        <p:nvSpPr>
          <p:cNvPr id="43" name="Oval 42"/>
          <p:cNvSpPr/>
          <p:nvPr/>
        </p:nvSpPr>
        <p:spPr>
          <a:xfrm>
            <a:off x="6163056" y="5961888"/>
            <a:ext cx="274320" cy="274320"/>
          </a:xfrm>
          <a:prstGeom prst="ellipse">
            <a:avLst/>
          </a:prstGeom>
          <a:solidFill>
            <a:srgbClr val="2E1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461504" y="2011680"/>
            <a:ext cx="2231136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461504" y="2011680"/>
            <a:ext cx="2231136" cy="8229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80960" y="2103120"/>
            <a:ext cx="17922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Phase 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80960" y="2423160"/>
            <a:ext cx="17922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F59E0B"/>
                </a:solidFill>
                <a:latin typeface="맑은 고딕"/>
                <a:ea typeface="맑은 고딕"/>
              </a:rPr>
              <a:t>M10–M12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80960" y="2971800"/>
            <a:ext cx="17922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1E1B4B"/>
                </a:solidFill>
                <a:latin typeface="맑은 고딕"/>
                <a:ea typeface="맑은 고딕"/>
              </a:rPr>
              <a:t>시스템 구축</a:t>
            </a:r>
          </a:p>
        </p:txBody>
      </p:sp>
      <p:sp>
        <p:nvSpPr>
          <p:cNvPr id="49" name="Oval 48"/>
          <p:cNvSpPr/>
          <p:nvPr/>
        </p:nvSpPr>
        <p:spPr>
          <a:xfrm>
            <a:off x="7680960" y="3520440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872984" y="3429000"/>
            <a:ext cx="159105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000" b="0">
                <a:solidFill>
                  <a:srgbClr val="1E1B4B"/>
                </a:solidFill>
                <a:latin typeface="맑은 고딕"/>
                <a:ea typeface="맑은 고딕"/>
              </a:rPr>
              <a:t>웹·태블릿 응시 플랫폼 개발</a:t>
            </a:r>
          </a:p>
        </p:txBody>
      </p:sp>
      <p:sp>
        <p:nvSpPr>
          <p:cNvPr id="51" name="Oval 50"/>
          <p:cNvSpPr/>
          <p:nvPr/>
        </p:nvSpPr>
        <p:spPr>
          <a:xfrm>
            <a:off x="7680960" y="4325112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872984" y="4233672"/>
            <a:ext cx="159105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000" b="0">
                <a:solidFill>
                  <a:srgbClr val="1E1B4B"/>
                </a:solidFill>
                <a:latin typeface="맑은 고딕"/>
                <a:ea typeface="맑은 고딕"/>
              </a:rPr>
              <a:t>자동 채점·리포트 엔진</a:t>
            </a:r>
          </a:p>
        </p:txBody>
      </p:sp>
      <p:sp>
        <p:nvSpPr>
          <p:cNvPr id="53" name="Oval 52"/>
          <p:cNvSpPr/>
          <p:nvPr/>
        </p:nvSpPr>
        <p:spPr>
          <a:xfrm>
            <a:off x="7680960" y="5129784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872984" y="5038344"/>
            <a:ext cx="159105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000" b="0">
                <a:solidFill>
                  <a:srgbClr val="1E1B4B"/>
                </a:solidFill>
                <a:latin typeface="맑은 고딕"/>
                <a:ea typeface="맑은 고딕"/>
              </a:rPr>
              <a:t>교사·보호자 해석 가이드 제작</a:t>
            </a:r>
          </a:p>
        </p:txBody>
      </p:sp>
      <p:sp>
        <p:nvSpPr>
          <p:cNvPr id="55" name="Oval 54"/>
          <p:cNvSpPr/>
          <p:nvPr/>
        </p:nvSpPr>
        <p:spPr>
          <a:xfrm>
            <a:off x="8467344" y="5961888"/>
            <a:ext cx="274320" cy="27432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9765792" y="2011680"/>
            <a:ext cx="2231136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765792" y="2011680"/>
            <a:ext cx="2231136" cy="8229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985248" y="2103120"/>
            <a:ext cx="17922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Phase 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985248" y="2423160"/>
            <a:ext cx="17922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F59E0B"/>
                </a:solidFill>
                <a:latin typeface="맑은 고딕"/>
                <a:ea typeface="맑은 고딕"/>
              </a:rPr>
              <a:t>M13~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985248" y="2971800"/>
            <a:ext cx="17922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1E1B4B"/>
                </a:solidFill>
                <a:latin typeface="맑은 고딕"/>
                <a:ea typeface="맑은 고딕"/>
              </a:rPr>
              <a:t>현장 적용</a:t>
            </a:r>
          </a:p>
        </p:txBody>
      </p:sp>
      <p:sp>
        <p:nvSpPr>
          <p:cNvPr id="61" name="Oval 60"/>
          <p:cNvSpPr/>
          <p:nvPr/>
        </p:nvSpPr>
        <p:spPr>
          <a:xfrm>
            <a:off x="9985248" y="352044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177272" y="3429000"/>
            <a:ext cx="159105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000" b="0">
                <a:solidFill>
                  <a:srgbClr val="1E1B4B"/>
                </a:solidFill>
                <a:latin typeface="맑은 고딕"/>
                <a:ea typeface="맑은 고딕"/>
              </a:rPr>
              <a:t>학기 단위 사전·사후 파일럿</a:t>
            </a:r>
          </a:p>
        </p:txBody>
      </p:sp>
      <p:sp>
        <p:nvSpPr>
          <p:cNvPr id="63" name="Oval 62"/>
          <p:cNvSpPr/>
          <p:nvPr/>
        </p:nvSpPr>
        <p:spPr>
          <a:xfrm>
            <a:off x="9985248" y="4325112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177272" y="4233672"/>
            <a:ext cx="159105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000" b="0">
                <a:solidFill>
                  <a:srgbClr val="1E1B4B"/>
                </a:solidFill>
                <a:latin typeface="맑은 고딕"/>
                <a:ea typeface="맑은 고딕"/>
              </a:rPr>
              <a:t>변화 민감도(RCI) 현장 검증</a:t>
            </a:r>
          </a:p>
        </p:txBody>
      </p:sp>
      <p:sp>
        <p:nvSpPr>
          <p:cNvPr id="65" name="Oval 64"/>
          <p:cNvSpPr/>
          <p:nvPr/>
        </p:nvSpPr>
        <p:spPr>
          <a:xfrm>
            <a:off x="9985248" y="5129784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177272" y="5038344"/>
            <a:ext cx="159105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000" b="0">
                <a:solidFill>
                  <a:srgbClr val="1E1B4B"/>
                </a:solidFill>
                <a:latin typeface="맑은 고딕"/>
                <a:ea typeface="맑은 고딕"/>
              </a:rPr>
              <a:t>정책 환류·지속 개선</a:t>
            </a:r>
          </a:p>
        </p:txBody>
      </p:sp>
      <p:sp>
        <p:nvSpPr>
          <p:cNvPr id="67" name="Oval 66"/>
          <p:cNvSpPr/>
          <p:nvPr/>
        </p:nvSpPr>
        <p:spPr>
          <a:xfrm>
            <a:off x="10771632" y="5961888"/>
            <a:ext cx="274320" cy="2743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  <a:ea typeface="맑은 고딕"/>
              </a:rPr>
              <a:t>초등 3~4학년 핵심 역량 진단시스템 개발 기획서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  <a:ea typeface="맑은 고딕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1645920" cy="310896"/>
          </a:xfrm>
          <a:prstGeom prst="roundRect">
            <a:avLst>
              <a:gd name="adj" fmla="val 4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5B21B6"/>
                </a:solidFill>
                <a:latin typeface="맑은 고딕"/>
                <a:ea typeface="맑은 고딕"/>
              </a:rPr>
              <a:t>PART 05  로드맵 및 기대효과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800" b="1">
                <a:solidFill>
                  <a:srgbClr val="1E1B4B"/>
                </a:solidFill>
                <a:latin typeface="맑은 고딕"/>
                <a:ea typeface="맑은 고딕"/>
              </a:rPr>
              <a:t>기대효과 및 활용방안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11155680" cy="127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3721608" cy="22677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8096" y="1938528"/>
            <a:ext cx="777240" cy="292608"/>
          </a:xfrm>
          <a:prstGeom prst="roundRect">
            <a:avLst>
              <a:gd name="adj" fmla="val 40000"/>
            </a:avLst>
          </a:prstGeom>
          <a:solidFill>
            <a:srgbClr val="2E1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938528"/>
            <a:ext cx="7772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학술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377440"/>
            <a:ext cx="328269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300" b="1">
                <a:solidFill>
                  <a:srgbClr val="1E1B4B"/>
                </a:solidFill>
                <a:latin typeface="맑은 고딕"/>
                <a:ea typeface="맑은 고딕"/>
              </a:rPr>
              <a:t>발달·임상 근거 기반 6대 역량 표준 척도 확립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3154680"/>
            <a:ext cx="328269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1050" b="0">
                <a:solidFill>
                  <a:srgbClr val="4B5563"/>
                </a:solidFill>
                <a:latin typeface="맑은 고딕"/>
                <a:ea typeface="맑은 고딕"/>
              </a:rPr>
              <a:t>국제 비교 연구·종단연구의 기초 도구로 활용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9976" y="1737360"/>
            <a:ext cx="3721608" cy="22677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99432" y="1938528"/>
            <a:ext cx="777240" cy="292608"/>
          </a:xfrm>
          <a:prstGeom prst="roundRect">
            <a:avLst>
              <a:gd name="adj" fmla="val 40000"/>
            </a:avLst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2" y="1938528"/>
            <a:ext cx="7772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정책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2377440"/>
            <a:ext cx="328269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300" b="1">
                <a:solidFill>
                  <a:srgbClr val="1E1B4B"/>
                </a:solidFill>
                <a:latin typeface="맑은 고딕"/>
                <a:ea typeface="맑은 고딕"/>
              </a:rPr>
              <a:t>시·도 교육청 단위 역량 모니터링 지표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3154680"/>
            <a:ext cx="328269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1050" b="0">
                <a:solidFill>
                  <a:srgbClr val="4B5563"/>
                </a:solidFill>
                <a:latin typeface="맑은 고딕"/>
                <a:ea typeface="맑은 고딕"/>
              </a:rPr>
              <a:t>교육정책·교육과정 개정에 실증 근거 제공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11312" y="1737360"/>
            <a:ext cx="3721608" cy="22677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30768" y="1938528"/>
            <a:ext cx="777240" cy="292608"/>
          </a:xfrm>
          <a:prstGeom prst="roundRect">
            <a:avLst>
              <a:gd name="adj" fmla="val 4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0768" y="1938528"/>
            <a:ext cx="7772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학교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0768" y="2377440"/>
            <a:ext cx="328269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300" b="1">
                <a:solidFill>
                  <a:srgbClr val="1E1B4B"/>
                </a:solidFill>
                <a:latin typeface="맑은 고딕"/>
                <a:ea typeface="맑은 고딕"/>
              </a:rPr>
              <a:t>학기 단위 역량 변화 가시화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0768" y="3154680"/>
            <a:ext cx="328269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1050" b="0">
                <a:solidFill>
                  <a:srgbClr val="4B5563"/>
                </a:solidFill>
                <a:latin typeface="맑은 고딕"/>
                <a:ea typeface="맑은 고딕"/>
              </a:rPr>
              <a:t>수업·생활지도·상담 개입의 효과성 자기평가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142232"/>
            <a:ext cx="3721608" cy="22677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68096" y="4343400"/>
            <a:ext cx="777240" cy="292608"/>
          </a:xfrm>
          <a:prstGeom prst="roundRect">
            <a:avLst>
              <a:gd name="adj" fmla="val 4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4343400"/>
            <a:ext cx="7772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임상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" y="4782312"/>
            <a:ext cx="328269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300" b="1">
                <a:solidFill>
                  <a:srgbClr val="1E1B4B"/>
                </a:solidFill>
                <a:latin typeface="맑은 고딕"/>
                <a:ea typeface="맑은 고딕"/>
              </a:rPr>
              <a:t>비인지 역량 결손 조기 선별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" y="5559552"/>
            <a:ext cx="328269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1050" b="0">
                <a:solidFill>
                  <a:srgbClr val="4B5563"/>
                </a:solidFill>
                <a:latin typeface="맑은 고딕"/>
                <a:ea typeface="맑은 고딕"/>
              </a:rPr>
              <a:t>아동상담센터·발달지원센터 의뢰 근거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79976" y="4142232"/>
            <a:ext cx="3721608" cy="22677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599432" y="4343400"/>
            <a:ext cx="777240" cy="292608"/>
          </a:xfrm>
          <a:prstGeom prst="roundRect">
            <a:avLst>
              <a:gd name="adj" fmla="val 4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99432" y="4343400"/>
            <a:ext cx="7772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가정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9432" y="4782312"/>
            <a:ext cx="328269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300" b="1">
                <a:solidFill>
                  <a:srgbClr val="1E1B4B"/>
                </a:solidFill>
                <a:latin typeface="맑은 고딕"/>
                <a:ea typeface="맑은 고딕"/>
              </a:rPr>
              <a:t>자녀 역량 프로파일 이해 향상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99432" y="5559552"/>
            <a:ext cx="328269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1050" b="0">
                <a:solidFill>
                  <a:srgbClr val="4B5563"/>
                </a:solidFill>
                <a:latin typeface="맑은 고딕"/>
                <a:ea typeface="맑은 고딕"/>
              </a:rPr>
              <a:t>가정 연계 활동·학부모 코칭 자료 연동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11312" y="4142232"/>
            <a:ext cx="3721608" cy="22677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430768" y="4343400"/>
            <a:ext cx="777240" cy="292608"/>
          </a:xfrm>
          <a:prstGeom prst="roundRect">
            <a:avLst>
              <a:gd name="adj" fmla="val 40000"/>
            </a:avLst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30768" y="4343400"/>
            <a:ext cx="7772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아동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30768" y="4782312"/>
            <a:ext cx="328269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300" b="1">
                <a:solidFill>
                  <a:srgbClr val="1E1B4B"/>
                </a:solidFill>
                <a:latin typeface="맑은 고딕"/>
                <a:ea typeface="맑은 고딕"/>
              </a:rPr>
              <a:t>‘나의 강점·성장’ 가시화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30768" y="5559552"/>
            <a:ext cx="328269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1050" b="0">
                <a:solidFill>
                  <a:srgbClr val="4B5563"/>
                </a:solidFill>
                <a:latin typeface="맑은 고딕"/>
                <a:ea typeface="맑은 고딕"/>
              </a:rPr>
              <a:t>자기이해·자기효능감·학습 동기 촉진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  <a:ea typeface="맑은 고딕"/>
              </a:rPr>
              <a:t>초등 3~4학년 핵심 역량 진단시스템 개발 기획서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  <a:ea typeface="맑은 고딕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106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4572000"/>
            <a:ext cx="4572000" cy="4572000"/>
          </a:xfrm>
          <a:prstGeom prst="ellipse">
            <a:avLst/>
          </a:prstGeom>
          <a:solidFill>
            <a:srgbClr val="3B1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-1371600"/>
            <a:ext cx="3657600" cy="3657600"/>
          </a:xfrm>
          <a:prstGeom prst="ellipse">
            <a:avLst/>
          </a:prstGeom>
          <a:solidFill>
            <a:srgbClr val="3B1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1">
                <a:solidFill>
                  <a:srgbClr val="F59E0B"/>
                </a:solidFill>
                <a:latin typeface="맑은 고딕"/>
                <a:ea typeface="맑은 고딕"/>
              </a:rP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맑은 고딕"/>
                <a:ea typeface="맑은 고딕"/>
              </a:rPr>
              <a:t>아동은 측정되기 위해 존재하지 않는다.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맑은 고딕"/>
                <a:ea typeface="맑은 고딕"/>
              </a:rPr>
              <a:t>다만, 잘 측정될 때 더 잘 성장한다.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108960"/>
            <a:ext cx="731520" cy="25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29184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  <a:spcAft>
                <a:spcPts val="200"/>
              </a:spcAft>
            </a:pPr>
            <a:r>
              <a:rPr sz="1350" b="0">
                <a:solidFill>
                  <a:srgbClr val="DDD6FE"/>
                </a:solidFill>
                <a:latin typeface="맑은 고딕"/>
                <a:ea typeface="맑은 고딕"/>
              </a:rPr>
              <a:t>본 시스템은 초등 3~4학년 아동의 6대 핵심 역량을 아동 발달·임상 근거 위에서 측정하고, 사전·사후 반복 설계로 ‘변화’까지 포착하고자 한다. 수치는 낙인이 아니라 성장의 지도가 되어야 하며, 본 기획은 그 지도의 첫 좌표를 놓는 작업이다.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029200"/>
            <a:ext cx="3383280" cy="1005840"/>
          </a:xfrm>
          <a:prstGeom prst="roundRect">
            <a:avLst>
              <a:gd name="adj" fmla="val 5000"/>
            </a:avLst>
          </a:prstGeom>
          <a:noFill/>
          <a:ln w="1524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516636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1">
                <a:solidFill>
                  <a:srgbClr val="F59E0B"/>
                </a:solidFill>
                <a:latin typeface="맑은 고딕"/>
                <a:ea typeface="맑은 고딕"/>
              </a:rPr>
              <a:t>발달 근거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544068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50" b="1">
                <a:solidFill>
                  <a:srgbClr val="FFFFFF"/>
                </a:solidFill>
                <a:latin typeface="맑은 고딕"/>
                <a:ea typeface="맑은 고딕"/>
              </a:rPr>
              <a:t>아동이 아동답게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5029200"/>
            <a:ext cx="3383280" cy="1005840"/>
          </a:xfrm>
          <a:prstGeom prst="roundRect">
            <a:avLst>
              <a:gd name="adj" fmla="val 5000"/>
            </a:avLst>
          </a:prstGeom>
          <a:noFill/>
          <a:ln w="1524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516636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1">
                <a:solidFill>
                  <a:srgbClr val="F59E0B"/>
                </a:solidFill>
                <a:latin typeface="맑은 고딕"/>
                <a:ea typeface="맑은 고딕"/>
              </a:rPr>
              <a:t>임상 엄밀성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544068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50" b="1">
                <a:solidFill>
                  <a:srgbClr val="FFFFFF"/>
                </a:solidFill>
                <a:latin typeface="맑은 고딕"/>
                <a:ea typeface="맑은 고딕"/>
              </a:rPr>
              <a:t>해석이 가능하도록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5029200"/>
            <a:ext cx="3383280" cy="1005840"/>
          </a:xfrm>
          <a:prstGeom prst="roundRect">
            <a:avLst>
              <a:gd name="adj" fmla="val 5000"/>
            </a:avLst>
          </a:prstGeom>
          <a:noFill/>
          <a:ln w="1524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516636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1">
                <a:solidFill>
                  <a:srgbClr val="F59E0B"/>
                </a:solidFill>
                <a:latin typeface="맑은 고딕"/>
                <a:ea typeface="맑은 고딕"/>
              </a:rPr>
              <a:t>정책 환류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544068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50" b="1">
                <a:solidFill>
                  <a:srgbClr val="FFFFFF"/>
                </a:solidFill>
                <a:latin typeface="맑은 고딕"/>
                <a:ea typeface="맑은 고딕"/>
              </a:rPr>
              <a:t>제도가 반응하도록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3093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>
                <a:solidFill>
                  <a:srgbClr val="DDD6FE"/>
                </a:solidFill>
                <a:latin typeface="맑은 고딕"/>
                <a:ea typeface="맑은 고딕"/>
              </a:rPr>
              <a:t>작성 · 아동임상 연구팀   |   2026. 04. 21.   |   v1.0   |   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